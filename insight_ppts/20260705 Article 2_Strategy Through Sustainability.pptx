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7" y="9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Gady" userId="7631e2b3a43d1301" providerId="LiveId" clId="{030F32AD-E086-436A-8370-117693AAF5BD}"/>
    <pc:docChg chg="custSel addSld modSld">
      <pc:chgData name="Satya Gady" userId="7631e2b3a43d1301" providerId="LiveId" clId="{030F32AD-E086-436A-8370-117693AAF5BD}" dt="2026-07-05T06:18:03.023" v="9" actId="26606"/>
      <pc:docMkLst>
        <pc:docMk/>
      </pc:docMkLst>
      <pc:sldChg chg="addSp delSp modSp mod">
        <pc:chgData name="Satya Gady" userId="7631e2b3a43d1301" providerId="LiveId" clId="{030F32AD-E086-436A-8370-117693AAF5BD}" dt="2026-07-05T06:18:03.023" v="9" actId="26606"/>
        <pc:sldMkLst>
          <pc:docMk/>
          <pc:sldMk cId="0" sldId="256"/>
        </pc:sldMkLst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6"/>
            <ac:spMk id="7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5:54:01.123" v="6" actId="26606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5:54:01.123" v="6" actId="2660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5:54:01.123" v="6" actId="26606"/>
          <ac:spMkLst>
            <pc:docMk/>
            <pc:sldMk cId="0" sldId="256"/>
            <ac:spMk id="11" creationId="{00000000-0000-0000-0000-000000000000}"/>
          </ac:spMkLst>
        </pc:spChg>
        <pc:spChg chg="add del mod replId">
          <ac:chgData name="Satya Gady" userId="7631e2b3a43d1301" providerId="LiveId" clId="{030F32AD-E086-436A-8370-117693AAF5BD}" dt="2026-07-05T05:54:01.123" v="6" actId="26606"/>
          <ac:spMkLst>
            <pc:docMk/>
            <pc:sldMk cId="0" sldId="256"/>
            <ac:spMk id="13" creationId="{00000000-0000-0000-0000-000000000000}"/>
          </ac:spMkLst>
        </pc:spChg>
        <pc:spChg chg="add del mod replId">
          <ac:chgData name="Satya Gady" userId="7631e2b3a43d1301" providerId="LiveId" clId="{030F32AD-E086-436A-8370-117693AAF5BD}" dt="2026-07-05T06:18:03.023" v="9" actId="26606"/>
          <ac:spMkLst>
            <pc:docMk/>
            <pc:sldMk cId="0" sldId="256"/>
            <ac:spMk id="14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5:54:01.123" v="6" actId="26606"/>
          <ac:spMkLst>
            <pc:docMk/>
            <pc:sldMk cId="0" sldId="256"/>
            <ac:spMk id="15" creationId="{00000000-0000-0000-0000-000000000000}"/>
          </ac:spMkLst>
        </pc:spChg>
        <pc:picChg chg="add">
          <ac:chgData name="Satya Gady" userId="7631e2b3a43d1301" providerId="LiveId" clId="{030F32AD-E086-436A-8370-117693AAF5BD}" dt="2026-07-05T05:54:01.123" v="6" actId="26606"/>
          <ac:picMkLst>
            <pc:docMk/>
            <pc:sldMk cId="0" sldId="256"/>
            <ac:picMk id="12" creationId="{00000000-0000-0000-0000-000000000000}"/>
          </ac:picMkLst>
        </pc:picChg>
      </pc:sldChg>
      <pc:sldChg chg="addSp delSp modSp mod">
        <pc:chgData name="Satya Gady" userId="7631e2b3a43d1301" providerId="LiveId" clId="{030F32AD-E086-436A-8370-117693AAF5BD}" dt="2026-07-05T06:18:03.023" v="9" actId="26606"/>
        <pc:sldMkLst>
          <pc:docMk/>
          <pc:sldMk cId="0" sldId="257"/>
        </pc:sldMkLst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7:41.330" v="1" actId="2660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7:41.330" v="1" actId="26606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7"/>
            <ac:spMk id="25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5:44:33.818" v="2" actId="26606"/>
          <ac:spMkLst>
            <pc:docMk/>
            <pc:sldMk cId="0" sldId="257"/>
            <ac:spMk id="26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5:44:33.818" v="2" actId="2660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Satya Gady" userId="7631e2b3a43d1301" providerId="LiveId" clId="{030F32AD-E086-436A-8370-117693AAF5BD}" dt="2026-07-05T06:18:03.023" v="9" actId="26606"/>
          <ac:spMkLst>
            <pc:docMk/>
            <pc:sldMk cId="0" sldId="257"/>
            <ac:spMk id="28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6:02:08.889" v="7" actId="26606"/>
          <ac:spMkLst>
            <pc:docMk/>
            <pc:sldMk cId="0" sldId="257"/>
            <ac:spMk id="29" creationId="{00000000-0000-0000-0000-000000000000}"/>
          </ac:spMkLst>
        </pc:spChg>
      </pc:sldChg>
      <pc:sldChg chg="addSp delSp modSp mod">
        <pc:chgData name="Satya Gady" userId="7631e2b3a43d1301" providerId="LiveId" clId="{030F32AD-E086-436A-8370-117693AAF5BD}" dt="2026-07-05T06:18:03.023" v="9" actId="26606"/>
        <pc:sldMkLst>
          <pc:docMk/>
          <pc:sldMk cId="0" sldId="258"/>
        </pc:sldMkLst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7:41.330" v="1" actId="2660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7:41.330" v="1" actId="2660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4:58.597" v="0" actId="2660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4:58.597" v="0" actId="2660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29" creationId="{00000000-0000-0000-0000-000000000000}"/>
          </ac:spMkLst>
        </pc:spChg>
        <pc:spChg chg="add">
          <ac:chgData name="Satya Gady" userId="7631e2b3a43d1301" providerId="LiveId" clId="{030F32AD-E086-436A-8370-117693AAF5BD}" dt="2026-07-05T05:34:58.597" v="0" actId="2660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8"/>
            <ac:spMk id="31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6:18:03.023" v="9" actId="26606"/>
          <ac:spMkLst>
            <pc:docMk/>
            <pc:sldMk cId="0" sldId="258"/>
            <ac:spMk id="35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6:02:08.889" v="7" actId="26606"/>
          <ac:spMkLst>
            <pc:docMk/>
            <pc:sldMk cId="0" sldId="258"/>
            <ac:spMk id="36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5:44:33.955" v="3" actId="26606"/>
          <ac:spMkLst>
            <pc:docMk/>
            <pc:sldMk cId="0" sldId="258"/>
            <ac:spMk id="36" creationId="{00000000-0000-0000-0000-000000000000}"/>
          </ac:spMkLst>
        </pc:spChg>
      </pc:sldChg>
      <pc:sldChg chg="addSp delSp modSp mod">
        <pc:chgData name="Satya Gady" userId="7631e2b3a43d1301" providerId="LiveId" clId="{030F32AD-E086-436A-8370-117693AAF5BD}" dt="2026-07-05T06:18:03.023" v="9" actId="26606"/>
        <pc:sldMkLst>
          <pc:docMk/>
          <pc:sldMk cId="0" sldId="259"/>
        </pc:sldMkLst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34:58.597" v="0" actId="26606"/>
          <ac:spMkLst>
            <pc:docMk/>
            <pc:sldMk cId="0" sldId="259"/>
            <ac:spMk id="6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9:17.954" v="4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9:17.954" v="4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16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18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9:17.954" v="4" actId="2660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22" creationId="{00000000-0000-0000-0000-000000000000}"/>
          </ac:spMkLst>
        </pc:spChg>
        <pc:spChg chg="add mod replI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23" creationId="{00000000-0000-0000-0000-000000000000}"/>
          </ac:spMkLst>
        </pc:spChg>
        <pc:spChg chg="add mod replI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24" creationId="{00000000-0000-0000-0000-000000000000}"/>
          </ac:spMkLst>
        </pc:spChg>
        <pc:spChg chg="add">
          <ac:chgData name="Satya Gady" userId="7631e2b3a43d1301" providerId="LiveId" clId="{030F32AD-E086-436A-8370-117693AAF5BD}" dt="2026-07-05T06:02:09.080" v="8" actId="26606"/>
          <ac:spMkLst>
            <pc:docMk/>
            <pc:sldMk cId="0" sldId="259"/>
            <ac:spMk id="25" creationId="{00000000-0000-0000-0000-000000000000}"/>
          </ac:spMkLst>
        </pc:spChg>
        <pc:spChg chg="add mod">
          <ac:chgData name="Satya Gady" userId="7631e2b3a43d1301" providerId="LiveId" clId="{030F32AD-E086-436A-8370-117693AAF5BD}" dt="2026-07-05T06:18:03.023" v="9" actId="26606"/>
          <ac:spMkLst>
            <pc:docMk/>
            <pc:sldMk cId="0" sldId="259"/>
            <ac:spMk id="26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6:02:08.889" v="7" actId="26606"/>
          <ac:spMkLst>
            <pc:docMk/>
            <pc:sldMk cId="0" sldId="259"/>
            <ac:spMk id="27" creationId="{00000000-0000-0000-0000-000000000000}"/>
          </ac:spMkLst>
        </pc:spChg>
      </pc:sldChg>
      <pc:sldChg chg="addSp delSp modSp mod">
        <pc:chgData name="Satya Gady" userId="7631e2b3a43d1301" providerId="LiveId" clId="{030F32AD-E086-436A-8370-117693AAF5BD}" dt="2026-07-05T06:18:03.023" v="9" actId="26606"/>
        <pc:sldMkLst>
          <pc:docMk/>
          <pc:sldMk cId="0" sldId="260"/>
        </pc:sldMkLst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5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20" creationId="{00000000-0000-0000-0000-000000000000}"/>
          </ac:spMkLst>
        </pc:spChg>
        <pc:spChg chg="ad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atya Gady" userId="7631e2b3a43d1301" providerId="LiveId" clId="{030F32AD-E086-436A-8370-117693AAF5BD}" dt="2026-07-05T06:02:09.080" v="8" actId="26606"/>
          <ac:spMkLst>
            <pc:docMk/>
            <pc:sldMk cId="0" sldId="260"/>
            <ac:spMk id="22" creationId="{00000000-0000-0000-0000-000000000000}"/>
          </ac:spMkLst>
        </pc:spChg>
        <pc:spChg chg="del mod replId">
          <ac:chgData name="Satya Gady" userId="7631e2b3a43d1301" providerId="LiveId" clId="{030F32AD-E086-436A-8370-117693AAF5BD}" dt="2026-07-05T05:44:33.955" v="3" actId="26606"/>
          <ac:spMkLst>
            <pc:docMk/>
            <pc:sldMk cId="0" sldId="260"/>
            <ac:spMk id="23" creationId="{00000000-0000-0000-0000-000000000000}"/>
          </ac:spMkLst>
        </pc:spChg>
        <pc:spChg chg="add del mod replI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24" creationId="{00000000-0000-0000-0000-000000000000}"/>
          </ac:spMkLst>
        </pc:spChg>
        <pc:spChg chg="mod replId">
          <ac:chgData name="Satya Gady" userId="7631e2b3a43d1301" providerId="LiveId" clId="{030F32AD-E086-436A-8370-117693AAF5BD}" dt="2026-07-05T05:44:33.818" v="2" actId="26606"/>
          <ac:spMkLst>
            <pc:docMk/>
            <pc:sldMk cId="0" sldId="260"/>
            <ac:spMk id="24" creationId="{00000000-0000-0000-0000-000000000000}"/>
          </ac:spMkLst>
        </pc:spChg>
        <pc:spChg chg="ad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28" creationId="{00000000-0000-0000-0000-000000000000}"/>
          </ac:spMkLst>
        </pc:spChg>
        <pc:spChg chg="ad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29" creationId="{00000000-0000-0000-0000-000000000000}"/>
          </ac:spMkLst>
        </pc:spChg>
        <pc:spChg chg="ad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31" creationId="{00000000-0000-0000-0000-000000000000}"/>
          </ac:spMkLst>
        </pc:spChg>
        <pc:spChg chg="ad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38" creationId="{00000000-0000-0000-0000-000000000000}"/>
          </ac:spMkLst>
        </pc:spChg>
        <pc:spChg chg="add">
          <ac:chgData name="Satya Gady" userId="7631e2b3a43d1301" providerId="LiveId" clId="{030F32AD-E086-436A-8370-117693AAF5BD}" dt="2026-07-05T06:18:03.023" v="9" actId="26606"/>
          <ac:spMkLst>
            <pc:docMk/>
            <pc:sldMk cId="0" sldId="260"/>
            <ac:spMk id="39" creationId="{00000000-0000-0000-0000-000000000000}"/>
          </ac:spMkLst>
        </pc:spChg>
      </pc:sldChg>
      <pc:sldChg chg="add">
        <pc:chgData name="Satya Gady" userId="7631e2b3a43d1301" providerId="LiveId" clId="{030F32AD-E086-436A-8370-117693AAF5BD}" dt="2026-07-05T06:18:03.023" v="9" actId="2660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F5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7955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DC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09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6B7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6B7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6B7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6B763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384048" cy="100584"/>
          </a:xfrm>
          <a:prstGeom prst="rect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07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</a:t>
            </a:r>
            <a:r>
              <a:rPr lang="en-US" sz="12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INSIGHTS SERIES   /   ARTICLE 02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173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Strategy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i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complex programs, enduring value is never a delivery afterthought — it is a strategic choice, governed from the very first decision.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by Satya Gady  ·  ESSGEE Projects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603504"/>
            <a:ext cx="1938528" cy="2377440"/>
          </a:xfrm>
          <a:prstGeom prst="roundRect">
            <a:avLst>
              <a:gd name="adj" fmla="val 4717"/>
            </a:avLst>
          </a:prstGeom>
          <a:solidFill>
            <a:srgbClr val="F5EFE1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2" name="Image 0" descr="assets/essge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740664"/>
            <a:ext cx="1408176" cy="2103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thought-leadership perspective on strategy, governance and delivery.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 That Make It Endure</a:t>
            </a:r>
            <a:endParaRPr lang="en-US" sz="2500" dirty="0"/>
          </a:p>
        </p:txBody>
      </p:sp>
      <p:pic>
        <p:nvPicPr>
          <p:cNvPr id="8" name="Image 0" descr="assets/essgee-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3736"/>
            <a:ext cx="512064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560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ESSGEE PROJECTS</a:t>
            </a:r>
            <a:endParaRPr lang="en-US" sz="12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333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outcomes are built, not bolted on. Three connected moves carry intent through to lasting value.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03804" y="24505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774436" y="24505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2450592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54864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61872" y="250545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3200400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sustainability as long-term value rather than compliance, and set clear direction before delivery begins.  [2]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319272" y="2450592"/>
            <a:ext cx="566928" cy="566928"/>
          </a:xfrm>
          <a:prstGeom prst="ellipse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3319272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032504" y="250545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19272" y="3200400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practical frameworks that embed sustainable choices into every decision, mandate and line of accountability.  [3]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89904" y="2450592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6089904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803136" y="250545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89904" y="3200400"/>
            <a:ext cx="2505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project systems that measure, protect and evidence long-term outcomes across the whole program lifecycle.  [4]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234440" y="4041648"/>
            <a:ext cx="6675120" cy="0"/>
          </a:xfrm>
          <a:prstGeom prst="line">
            <a:avLst/>
          </a:prstGeom>
          <a:noFill/>
          <a:ln w="15875">
            <a:solidFill>
              <a:srgbClr val="6B7638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4F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thread ties them together: strategy sets the direction — and delivery and operations turn it into lasting value.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[2] UN SDGs  ·  [3] ISO 21502:2020  ·  [4] PMI Pulse of the Profession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Delivery &amp; Operations</a:t>
            </a:r>
            <a:endParaRPr lang="en-US" sz="2500" dirty="0"/>
          </a:p>
        </p:txBody>
      </p:sp>
      <p:pic>
        <p:nvPicPr>
          <p:cNvPr id="8" name="Image 0" descr="assets/essgee-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3736"/>
            <a:ext cx="512064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560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ESSGEE PROJECTS</a:t>
            </a:r>
            <a:endParaRPr lang="en-US" sz="12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333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repeatable, high-level process that carries strategy into steady-state performance — and keeps improving it.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31720" y="182880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156716" y="1828800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115671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25237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2871216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governance, delivery systems and the team; lock scope, controls and success measures.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16552" y="182880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3241548" y="1828800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324154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633472" y="25237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633472" y="2871216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disciplined reporting, risk and change management across the program.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01384" y="1828800"/>
            <a:ext cx="301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5326380" y="1828800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53263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718304" y="25237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718304" y="2871216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reliable operations, maintenance and sustained asset performance.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411212" y="1828800"/>
            <a:ext cx="566928" cy="566928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/>
          <p:nvPr/>
        </p:nvSpPr>
        <p:spPr>
          <a:xfrm>
            <a:off x="741121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03136" y="252374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4F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803136" y="2871216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outcomes, capture lessons and feed value back into strategy.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39593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12280" y="3959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874520" y="4078224"/>
            <a:ext cx="4846320" cy="0"/>
          </a:xfrm>
          <a:prstGeom prst="line">
            <a:avLst/>
          </a:prstGeom>
          <a:noFill/>
          <a:ln w="15875">
            <a:solidFill>
              <a:srgbClr val="6B7638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0"/>
          <p:cNvSpPr/>
          <p:nvPr/>
        </p:nvSpPr>
        <p:spPr>
          <a:xfrm>
            <a:off x="548640" y="426110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F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loop — the Improve stage informs the next Strategy cycle.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[1] ESSGEE Insights  ·  [3] ISO 21502  ·  [4] PMI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Sets the Direction</a:t>
            </a:r>
            <a:endParaRPr lang="en-US" sz="2500" dirty="0"/>
          </a:p>
        </p:txBody>
      </p:sp>
      <p:pic>
        <p:nvPicPr>
          <p:cNvPr id="8" name="Image 0" descr="assets/essgee-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3736"/>
            <a:ext cx="512064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560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ESSGEE PROJECTS</a:t>
            </a:r>
            <a:endParaRPr lang="en-US" sz="12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28016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333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begins as a strategic choice, long before delivery starts. Strategy defines what enduring value means for the organisation and commits to it as direction — not a box to tick later. Governance, the frameworks that hold this in place, is detailed in Article 1.  [1]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b="1" i="1" dirty="0">
                <a:solidFill>
                  <a:srgbClr val="B05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direction first: enduring value is chosen at the strategy table, not recovered on site.  [2]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257800" y="1280160"/>
            <a:ext cx="3337560" cy="841248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5458968" y="1490472"/>
            <a:ext cx="420624" cy="420624"/>
          </a:xfrm>
          <a:prstGeom prst="ellipse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5458968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44184" y="1280160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enduring value in business terms, not compliance.  [2]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57800" y="2249424"/>
            <a:ext cx="3337560" cy="841248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5458968" y="2459736"/>
            <a:ext cx="420624" cy="420624"/>
          </a:xfrm>
          <a:prstGeom prst="ellipse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5458968" y="2459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044184" y="224942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direction early, before delivery locks choices in.  [4]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257800" y="3218688"/>
            <a:ext cx="3337560" cy="841248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Shape 18"/>
          <p:cNvSpPr/>
          <p:nvPr/>
        </p:nvSpPr>
        <p:spPr>
          <a:xfrm>
            <a:off x="5458968" y="3429000"/>
            <a:ext cx="420624" cy="420624"/>
          </a:xfrm>
          <a:prstGeom prst="ellipse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5458968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044184" y="3218688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outcomes to recognised sustainability frameworks.  [5]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4F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thread ties them together: strategy sets the direction — and delivery and operations turn it into lasting value.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[1] ESSGEE Insights  ·  [2] UN SDGs  ·  [4] PMI  ·  [5] ISC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Model, Measurable Value</a:t>
            </a:r>
            <a:endParaRPr lang="en-US" sz="2500" dirty="0"/>
          </a:p>
        </p:txBody>
      </p:sp>
      <p:pic>
        <p:nvPicPr>
          <p:cNvPr id="8" name="Image 0" descr="assets/essgee-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3736"/>
            <a:ext cx="512064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560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ESSGEE PROJECTS</a:t>
            </a:r>
            <a:endParaRPr lang="en-US" sz="12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3331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Strategy, governance and delivery run as one continuous loop — and the market now rewards it with evidence.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" y="1819656"/>
            <a:ext cx="2980944" cy="2980944"/>
          </a:xfrm>
          <a:prstGeom prst="ellipse">
            <a:avLst/>
          </a:prstGeom>
          <a:ln w="12700">
            <a:solidFill>
              <a:srgbClr val="C9CBA3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1764792" y="2743200"/>
            <a:ext cx="1133856" cy="1133856"/>
          </a:xfrm>
          <a:prstGeom prst="ellipse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1764792" y="274320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83664" y="1801368"/>
            <a:ext cx="896112" cy="896112"/>
          </a:xfrm>
          <a:prstGeom prst="ellipse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1883664" y="1801368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892453" y="2534296"/>
            <a:ext cx="896112" cy="896112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2892453" y="2534296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07130" y="3720200"/>
            <a:ext cx="896112" cy="896112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2507130" y="37202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0198" y="3720200"/>
            <a:ext cx="896112" cy="896112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1260198" y="3720200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74875" y="2534296"/>
            <a:ext cx="896112" cy="896112"/>
          </a:xfrm>
          <a:prstGeom prst="ellipse">
            <a:avLst/>
          </a:prstGeom>
          <a:solidFill>
            <a:srgbClr val="6B763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874875" y="2534296"/>
            <a:ext cx="8961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5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 rot="2160000">
            <a:off x="2662379" y="244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 rot="6480000">
            <a:off x="2974112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 rot="10800000">
            <a:off x="2157984" y="399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 rot="-6480000">
            <a:off x="1341856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 rot="-2160000">
            <a:off x="1653589" y="244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444398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4F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closed loop: strategy sets direction, governance holds it true, delivery and operations realise it — and improvement feeds the next cycle.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92040" y="1810512"/>
            <a:ext cx="3703320" cy="868680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8"/>
          <p:cNvSpPr/>
          <p:nvPr/>
        </p:nvSpPr>
        <p:spPr>
          <a:xfrm>
            <a:off x="4892040" y="1810512"/>
            <a:ext cx="64008" cy="868680"/>
          </a:xfrm>
          <a:prstGeom prst="rect">
            <a:avLst/>
          </a:prstGeom>
          <a:solidFill>
            <a:srgbClr val="B07B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29"/>
          <p:cNvSpPr/>
          <p:nvPr/>
        </p:nvSpPr>
        <p:spPr>
          <a:xfrm>
            <a:off x="5093208" y="1810512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300" dirty="0"/>
          </a:p>
        </p:txBody>
      </p:sp>
      <p:sp>
        <p:nvSpPr>
          <p:cNvPr id="33" name="Text 30"/>
          <p:cNvSpPr/>
          <p:nvPr/>
        </p:nvSpPr>
        <p:spPr>
          <a:xfrm>
            <a:off x="6217920" y="18105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 companies now report sustainability using the GRI Standards.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Survey of Sustainability Reporting, 2024  [7]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92040" y="2807208"/>
            <a:ext cx="3703320" cy="868680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Shape 32"/>
          <p:cNvSpPr/>
          <p:nvPr/>
        </p:nvSpPr>
        <p:spPr>
          <a:xfrm>
            <a:off x="4892040" y="2807208"/>
            <a:ext cx="64008" cy="868680"/>
          </a:xfrm>
          <a:prstGeom prst="rect">
            <a:avLst/>
          </a:prstGeom>
          <a:solidFill>
            <a:srgbClr val="B0533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3"/>
          <p:cNvSpPr/>
          <p:nvPr/>
        </p:nvSpPr>
        <p:spPr>
          <a:xfrm>
            <a:off x="5093208" y="2807208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B05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US$4T</a:t>
            </a:r>
            <a:endParaRPr lang="en-US" sz="2300" dirty="0"/>
          </a:p>
        </p:txBody>
      </p:sp>
      <p:sp>
        <p:nvSpPr>
          <p:cNvPr id="37" name="Text 34"/>
          <p:cNvSpPr/>
          <p:nvPr/>
        </p:nvSpPr>
        <p:spPr>
          <a:xfrm>
            <a:off x="6217920" y="2807208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SDG investment gap in developing economies — capital waiting on credible delivery.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UNCTAD, 2024  [8]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92040" y="3803904"/>
            <a:ext cx="3703320" cy="868680"/>
          </a:xfrm>
          <a:prstGeom prst="rect">
            <a:avLst/>
          </a:prstGeom>
          <a:solidFill>
            <a:srgbClr val="DDD0B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Shape 36"/>
          <p:cNvSpPr/>
          <p:nvPr/>
        </p:nvSpPr>
        <p:spPr>
          <a:xfrm>
            <a:off x="4892040" y="3803904"/>
            <a:ext cx="64008" cy="868680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7"/>
          <p:cNvSpPr/>
          <p:nvPr/>
        </p:nvSpPr>
        <p:spPr>
          <a:xfrm>
            <a:off x="5093208" y="3803904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4F5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2300" dirty="0"/>
          </a:p>
        </p:txBody>
      </p:sp>
      <p:sp>
        <p:nvSpPr>
          <p:cNvPr id="41" name="Text 38"/>
          <p:cNvSpPr/>
          <p:nvPr/>
        </p:nvSpPr>
        <p:spPr>
          <a:xfrm>
            <a:off x="6217920" y="3803904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projects earned verified IS 'As Built' sustainability ratings in FY25.</a:t>
            </a:r>
            <a:endParaRPr lang="en-US" sz="10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800" i="1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Sustainability Council  [5]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[5] GRI / KPMG (2024)  ·  UNCTAD (2024)  ·  Infrastructure Sustainability Council (FY25)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48940"/>
            <a:ext cx="2194560" cy="219456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760720" y="1760220"/>
            <a:ext cx="3383280" cy="338328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0" y="571500"/>
            <a:ext cx="4572000" cy="45720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000500" y="0"/>
            <a:ext cx="5143500" cy="5143500"/>
          </a:xfrm>
          <a:prstGeom prst="ellipse">
            <a:avLst/>
          </a:prstGeom>
          <a:ln w="12700">
            <a:solidFill>
              <a:srgbClr val="DDD0B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F5A2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9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5EF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Further Reading</a:t>
            </a:r>
            <a:endParaRPr lang="en-US" sz="2500" dirty="0"/>
          </a:p>
        </p:txBody>
      </p:sp>
      <p:pic>
        <p:nvPicPr>
          <p:cNvPr id="8" name="Image 0" descr="assets/essgee-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3736"/>
            <a:ext cx="512064" cy="6309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560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B07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ESSGEE PROJECTS</a:t>
            </a:r>
            <a:endParaRPr lang="en-US" sz="12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00" b="1" kern="0" spc="200" dirty="0">
                <a:solidFill>
                  <a:srgbClr val="C9C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28016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1280160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 — Insights: Bridging Strategy, Governance &amp; Delivery.  essgee.pro/insights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170078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1700784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— Sustainable Development Goals (SDGs).  sdgs.un.org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212140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" y="2121408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21502:2020 — Project, programme and portfolio management: Guidance on project management.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254203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3000" y="2542032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 — Pulse of the Profession.  pmi.org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29626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3000" y="2962656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Sustainability Council — IS Rating Scheme (FY25 certified projects).  iscouncil.org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33832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43000" y="3383280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Reporting Initiative — GRI Standards.  globalreporting.org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38039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" y="3803904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— Survey of Sustainability Reporting 2024.  kpmg.com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422452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43000" y="4224528"/>
            <a:ext cx="7452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50" dirty="0">
                <a:solidFill>
                  <a:srgbClr val="333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UNCTAD — World Investment Report 2024 (SDG investment gap).  unctad.org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48280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ESSGEE Projects  ·  Perth, Western Australia  ·  essgee.pro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406640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813</Words>
  <Application>Microsoft Office PowerPoint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Sustainability Through Strategy</vt:lpstr>
      <vt:lpstr>Three Moves That Make It Endure</vt:lpstr>
      <vt:lpstr>Business Delivery &amp; Operations</vt:lpstr>
      <vt:lpstr>Strategy Sets the Direction</vt:lpstr>
      <vt:lpstr>One Model, Measurable Value</vt:lpstr>
      <vt:lpstr>References &amp; 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Gady</dc:creator>
  <cp:lastModifiedBy>Satya Gady</cp:lastModifiedBy>
  <cp:revision>1</cp:revision>
  <dcterms:created xsi:type="dcterms:W3CDTF">2026-07-05T04:26:00Z</dcterms:created>
  <dcterms:modified xsi:type="dcterms:W3CDTF">2026-07-05T06:18:11Z</dcterms:modified>
</cp:coreProperties>
</file>