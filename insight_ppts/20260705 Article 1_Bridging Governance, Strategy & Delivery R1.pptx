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15" autoAdjust="0"/>
    <p:restoredTop sz="94660"/>
  </p:normalViewPr>
  <p:slideViewPr>
    <p:cSldViewPr snapToGrid="0">
      <p:cViewPr varScale="1">
        <p:scale>
          <a:sx n="64" d="100"/>
          <a:sy n="64" d="100"/>
        </p:scale>
        <p:origin x="687" y="92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tya Gady" userId="7631e2b3a43d1301" providerId="LiveId" clId="{030F32AD-E086-436A-8370-117693AAF5BD}"/>
    <pc:docChg chg="custSel addSld modSld">
      <pc:chgData name="Satya Gady" userId="7631e2b3a43d1301" providerId="LiveId" clId="{030F32AD-E086-436A-8370-117693AAF5BD}" dt="2026-07-05T04:06:38.233" v="0" actId="26606"/>
      <pc:docMkLst>
        <pc:docMk/>
      </pc:docMkLst>
      <pc:sldChg chg="addSp modSp mod">
        <pc:chgData name="Satya Gady" userId="7631e2b3a43d1301" providerId="LiveId" clId="{030F32AD-E086-436A-8370-117693AAF5BD}" dt="2026-07-05T04:06:38.233" v="0" actId="26606"/>
        <pc:sldMkLst>
          <pc:docMk/>
          <pc:sldMk cId="0" sldId="258"/>
        </pc:sldMkLst>
        <pc:spChg chg="mod">
          <ac:chgData name="Satya Gady" userId="7631e2b3a43d1301" providerId="LiveId" clId="{030F32AD-E086-436A-8370-117693AAF5BD}" dt="2026-07-05T04:06:38.233" v="0" actId="26606"/>
          <ac:spMkLst>
            <pc:docMk/>
            <pc:sldMk cId="0" sldId="258"/>
            <ac:spMk id="10" creationId="{00000000-0000-0000-0000-000000000000}"/>
          </ac:spMkLst>
        </pc:spChg>
        <pc:spChg chg="mod">
          <ac:chgData name="Satya Gady" userId="7631e2b3a43d1301" providerId="LiveId" clId="{030F32AD-E086-436A-8370-117693AAF5BD}" dt="2026-07-05T04:06:38.233" v="0" actId="26606"/>
          <ac:spMkLst>
            <pc:docMk/>
            <pc:sldMk cId="0" sldId="258"/>
            <ac:spMk id="12" creationId="{00000000-0000-0000-0000-000000000000}"/>
          </ac:spMkLst>
        </pc:spChg>
        <pc:spChg chg="mod">
          <ac:chgData name="Satya Gady" userId="7631e2b3a43d1301" providerId="LiveId" clId="{030F32AD-E086-436A-8370-117693AAF5BD}" dt="2026-07-05T04:06:38.233" v="0" actId="26606"/>
          <ac:spMkLst>
            <pc:docMk/>
            <pc:sldMk cId="0" sldId="258"/>
            <ac:spMk id="13" creationId="{00000000-0000-0000-0000-000000000000}"/>
          </ac:spMkLst>
        </pc:spChg>
        <pc:spChg chg="mod">
          <ac:chgData name="Satya Gady" userId="7631e2b3a43d1301" providerId="LiveId" clId="{030F32AD-E086-436A-8370-117693AAF5BD}" dt="2026-07-05T04:06:38.233" v="0" actId="26606"/>
          <ac:spMkLst>
            <pc:docMk/>
            <pc:sldMk cId="0" sldId="258"/>
            <ac:spMk id="14" creationId="{00000000-0000-0000-0000-000000000000}"/>
          </ac:spMkLst>
        </pc:spChg>
        <pc:spChg chg="mod">
          <ac:chgData name="Satya Gady" userId="7631e2b3a43d1301" providerId="LiveId" clId="{030F32AD-E086-436A-8370-117693AAF5BD}" dt="2026-07-05T04:06:38.233" v="0" actId="26606"/>
          <ac:spMkLst>
            <pc:docMk/>
            <pc:sldMk cId="0" sldId="258"/>
            <ac:spMk id="15" creationId="{00000000-0000-0000-0000-000000000000}"/>
          </ac:spMkLst>
        </pc:spChg>
        <pc:spChg chg="mod">
          <ac:chgData name="Satya Gady" userId="7631e2b3a43d1301" providerId="LiveId" clId="{030F32AD-E086-436A-8370-117693AAF5BD}" dt="2026-07-05T04:06:38.233" v="0" actId="26606"/>
          <ac:spMkLst>
            <pc:docMk/>
            <pc:sldMk cId="0" sldId="258"/>
            <ac:spMk id="16" creationId="{00000000-0000-0000-0000-000000000000}"/>
          </ac:spMkLst>
        </pc:spChg>
        <pc:spChg chg="mod">
          <ac:chgData name="Satya Gady" userId="7631e2b3a43d1301" providerId="LiveId" clId="{030F32AD-E086-436A-8370-117693AAF5BD}" dt="2026-07-05T04:06:38.233" v="0" actId="26606"/>
          <ac:spMkLst>
            <pc:docMk/>
            <pc:sldMk cId="0" sldId="258"/>
            <ac:spMk id="18" creationId="{00000000-0000-0000-0000-000000000000}"/>
          </ac:spMkLst>
        </pc:spChg>
        <pc:spChg chg="mod">
          <ac:chgData name="Satya Gady" userId="7631e2b3a43d1301" providerId="LiveId" clId="{030F32AD-E086-436A-8370-117693AAF5BD}" dt="2026-07-05T04:06:38.233" v="0" actId="26606"/>
          <ac:spMkLst>
            <pc:docMk/>
            <pc:sldMk cId="0" sldId="258"/>
            <ac:spMk id="19" creationId="{00000000-0000-0000-0000-000000000000}"/>
          </ac:spMkLst>
        </pc:spChg>
        <pc:spChg chg="mod">
          <ac:chgData name="Satya Gady" userId="7631e2b3a43d1301" providerId="LiveId" clId="{030F32AD-E086-436A-8370-117693AAF5BD}" dt="2026-07-05T04:06:38.233" v="0" actId="26606"/>
          <ac:spMkLst>
            <pc:docMk/>
            <pc:sldMk cId="0" sldId="258"/>
            <ac:spMk id="20" creationId="{00000000-0000-0000-0000-000000000000}"/>
          </ac:spMkLst>
        </pc:spChg>
        <pc:spChg chg="add">
          <ac:chgData name="Satya Gady" userId="7631e2b3a43d1301" providerId="LiveId" clId="{030F32AD-E086-436A-8370-117693AAF5BD}" dt="2026-07-05T04:06:38.233" v="0" actId="26606"/>
          <ac:spMkLst>
            <pc:docMk/>
            <pc:sldMk cId="0" sldId="258"/>
            <ac:spMk id="21" creationId="{00000000-0000-0000-0000-000000000000}"/>
          </ac:spMkLst>
        </pc:spChg>
      </pc:sldChg>
      <pc:sldChg chg="addSp modSp mod">
        <pc:chgData name="Satya Gady" userId="7631e2b3a43d1301" providerId="LiveId" clId="{030F32AD-E086-436A-8370-117693AAF5BD}" dt="2026-07-05T04:06:38.233" v="0" actId="26606"/>
        <pc:sldMkLst>
          <pc:docMk/>
          <pc:sldMk cId="0" sldId="261"/>
        </pc:sldMkLst>
        <pc:spChg chg="mod">
          <ac:chgData name="Satya Gady" userId="7631e2b3a43d1301" providerId="LiveId" clId="{030F32AD-E086-436A-8370-117693AAF5BD}" dt="2026-07-05T04:06:38.233" v="0" actId="26606"/>
          <ac:spMkLst>
            <pc:docMk/>
            <pc:sldMk cId="0" sldId="261"/>
            <ac:spMk id="9" creationId="{00000000-0000-0000-0000-000000000000}"/>
          </ac:spMkLst>
        </pc:spChg>
        <pc:spChg chg="mod">
          <ac:chgData name="Satya Gady" userId="7631e2b3a43d1301" providerId="LiveId" clId="{030F32AD-E086-436A-8370-117693AAF5BD}" dt="2026-07-05T04:06:38.233" v="0" actId="26606"/>
          <ac:spMkLst>
            <pc:docMk/>
            <pc:sldMk cId="0" sldId="261"/>
            <ac:spMk id="11" creationId="{00000000-0000-0000-0000-000000000000}"/>
          </ac:spMkLst>
        </pc:spChg>
        <pc:spChg chg="mod">
          <ac:chgData name="Satya Gady" userId="7631e2b3a43d1301" providerId="LiveId" clId="{030F32AD-E086-436A-8370-117693AAF5BD}" dt="2026-07-05T04:06:38.233" v="0" actId="26606"/>
          <ac:spMkLst>
            <pc:docMk/>
            <pc:sldMk cId="0" sldId="261"/>
            <ac:spMk id="12" creationId="{00000000-0000-0000-0000-000000000000}"/>
          </ac:spMkLst>
        </pc:spChg>
        <pc:spChg chg="mod">
          <ac:chgData name="Satya Gady" userId="7631e2b3a43d1301" providerId="LiveId" clId="{030F32AD-E086-436A-8370-117693AAF5BD}" dt="2026-07-05T04:06:38.233" v="0" actId="26606"/>
          <ac:spMkLst>
            <pc:docMk/>
            <pc:sldMk cId="0" sldId="261"/>
            <ac:spMk id="13" creationId="{00000000-0000-0000-0000-000000000000}"/>
          </ac:spMkLst>
        </pc:spChg>
        <pc:spChg chg="mod">
          <ac:chgData name="Satya Gady" userId="7631e2b3a43d1301" providerId="LiveId" clId="{030F32AD-E086-436A-8370-117693AAF5BD}" dt="2026-07-05T04:06:38.233" v="0" actId="26606"/>
          <ac:spMkLst>
            <pc:docMk/>
            <pc:sldMk cId="0" sldId="261"/>
            <ac:spMk id="15" creationId="{00000000-0000-0000-0000-000000000000}"/>
          </ac:spMkLst>
        </pc:spChg>
        <pc:spChg chg="mod">
          <ac:chgData name="Satya Gady" userId="7631e2b3a43d1301" providerId="LiveId" clId="{030F32AD-E086-436A-8370-117693AAF5BD}" dt="2026-07-05T04:06:38.233" v="0" actId="26606"/>
          <ac:spMkLst>
            <pc:docMk/>
            <pc:sldMk cId="0" sldId="261"/>
            <ac:spMk id="16" creationId="{00000000-0000-0000-0000-000000000000}"/>
          </ac:spMkLst>
        </pc:spChg>
        <pc:spChg chg="mod">
          <ac:chgData name="Satya Gady" userId="7631e2b3a43d1301" providerId="LiveId" clId="{030F32AD-E086-436A-8370-117693AAF5BD}" dt="2026-07-05T04:06:38.233" v="0" actId="26606"/>
          <ac:spMkLst>
            <pc:docMk/>
            <pc:sldMk cId="0" sldId="261"/>
            <ac:spMk id="17" creationId="{00000000-0000-0000-0000-000000000000}"/>
          </ac:spMkLst>
        </pc:spChg>
        <pc:spChg chg="mod">
          <ac:chgData name="Satya Gady" userId="7631e2b3a43d1301" providerId="LiveId" clId="{030F32AD-E086-436A-8370-117693AAF5BD}" dt="2026-07-05T04:06:38.233" v="0" actId="26606"/>
          <ac:spMkLst>
            <pc:docMk/>
            <pc:sldMk cId="0" sldId="261"/>
            <ac:spMk id="22" creationId="{00000000-0000-0000-0000-000000000000}"/>
          </ac:spMkLst>
        </pc:spChg>
        <pc:spChg chg="mod">
          <ac:chgData name="Satya Gady" userId="7631e2b3a43d1301" providerId="LiveId" clId="{030F32AD-E086-436A-8370-117693AAF5BD}" dt="2026-07-05T04:06:38.233" v="0" actId="26606"/>
          <ac:spMkLst>
            <pc:docMk/>
            <pc:sldMk cId="0" sldId="261"/>
            <ac:spMk id="26" creationId="{00000000-0000-0000-0000-000000000000}"/>
          </ac:spMkLst>
        </pc:spChg>
        <pc:spChg chg="add">
          <ac:chgData name="Satya Gady" userId="7631e2b3a43d1301" providerId="LiveId" clId="{030F32AD-E086-436A-8370-117693AAF5BD}" dt="2026-07-05T04:06:38.233" v="0" actId="26606"/>
          <ac:spMkLst>
            <pc:docMk/>
            <pc:sldMk cId="0" sldId="261"/>
            <ac:spMk id="28" creationId="{00000000-0000-0000-0000-000000000000}"/>
          </ac:spMkLst>
        </pc:spChg>
      </pc:sldChg>
      <pc:sldChg chg="add">
        <pc:chgData name="Satya Gady" userId="7631e2b3a43d1301" providerId="LiveId" clId="{030F32AD-E086-436A-8370-117693AAF5BD}" dt="2026-07-05T04:06:38.233" v="0" actId="26606"/>
        <pc:sldMkLst>
          <pc:docMk/>
          <pc:sldMk cId="0" sldId="26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IN">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914400"/>
            <a:ext cx="8046720" cy="731520"/>
          </a:xfrm>
          <a:prstGeom prst="rect">
            <a:avLst/>
          </a:prstGeom>
          <a:noFill/>
          <a:ln/>
        </p:spPr>
        <p:txBody>
          <a:bodyPr wrap="square" rtlCol="0"/>
          <a:lstStyle>
            <a:lvl1pPr marL="0" indent="0">
              <a:buNone/>
              <a:defRPr lang="en-US" dirty="0"/>
            </a:lvl1pPr>
          </a:lstStyle>
          <a:p>
            <a:pPr marL="0" indent="0">
              <a:buNone/>
            </a:pP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932688"/>
            <a:ext cx="5120640" cy="1554480"/>
          </a:xfrm>
          <a:prstGeom prst="rect">
            <a:avLst/>
          </a:prstGeom>
          <a:noFill/>
          <a:ln/>
        </p:spPr>
        <p:txBody>
          <a:bodyPr wrap="square" rtlCol="0"/>
          <a:lstStyle>
            <a:lvl1pPr marL="0" indent="0">
              <a:buNone/>
              <a:defRPr lang="en-US" dirty="0"/>
            </a:lvl1pPr>
          </a:lstStyle>
          <a:p>
            <a:pPr marL="0" indent="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83541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1E1A"/>
        </a:solidFill>
        <a:effectLst/>
      </p:bgPr>
    </p:bg>
    <p:spTree>
      <p:nvGrpSpPr>
        <p:cNvPr id="1" name=""/>
        <p:cNvGrpSpPr/>
        <p:nvPr/>
      </p:nvGrpSpPr>
      <p:grpSpPr>
        <a:xfrm>
          <a:off x="0" y="0"/>
          <a:ext cx="0" cy="0"/>
          <a:chOff x="0" y="0"/>
          <a:chExt cx="0" cy="0"/>
        </a:xfrm>
      </p:grpSpPr>
      <p:sp>
        <p:nvSpPr>
          <p:cNvPr id="2" name="Shape 0"/>
          <p:cNvSpPr/>
          <p:nvPr/>
        </p:nvSpPr>
        <p:spPr>
          <a:xfrm>
            <a:off x="5989320" y="0"/>
            <a:ext cx="3154680" cy="5143500"/>
          </a:xfrm>
          <a:prstGeom prst="rect">
            <a:avLst/>
          </a:prstGeom>
          <a:solidFill>
            <a:srgbClr val="F6EFE4"/>
          </a:solidFill>
          <a:ln/>
        </p:spPr>
        <p:txBody>
          <a:bodyPr/>
          <a:lstStyle/>
          <a:p>
            <a:endParaRPr lang="en-AU"/>
          </a:p>
        </p:txBody>
      </p:sp>
      <p:sp>
        <p:nvSpPr>
          <p:cNvPr id="3" name="Shape 1"/>
          <p:cNvSpPr/>
          <p:nvPr/>
        </p:nvSpPr>
        <p:spPr>
          <a:xfrm>
            <a:off x="5961888" y="0"/>
            <a:ext cx="27432" cy="5143500"/>
          </a:xfrm>
          <a:prstGeom prst="rect">
            <a:avLst/>
          </a:prstGeom>
          <a:solidFill>
            <a:srgbClr val="B07B33"/>
          </a:solidFill>
          <a:ln/>
        </p:spPr>
        <p:txBody>
          <a:bodyPr/>
          <a:lstStyle/>
          <a:p>
            <a:endParaRPr lang="en-AU"/>
          </a:p>
        </p:txBody>
      </p:sp>
      <p:pic>
        <p:nvPicPr>
          <p:cNvPr id="4" name="Image 0" descr="ESSGEE Projects logo — compass shield with Sustainability Through Strategy"/>
          <p:cNvPicPr>
            <a:picLocks noChangeAspect="1"/>
          </p:cNvPicPr>
          <p:nvPr/>
        </p:nvPicPr>
        <p:blipFill>
          <a:blip r:embed="rId3"/>
          <a:stretch>
            <a:fillRect/>
          </a:stretch>
        </p:blipFill>
        <p:spPr>
          <a:xfrm>
            <a:off x="6664542" y="1234440"/>
            <a:ext cx="1804236" cy="2697480"/>
          </a:xfrm>
          <a:prstGeom prst="rect">
            <a:avLst/>
          </a:prstGeom>
        </p:spPr>
      </p:pic>
      <p:sp>
        <p:nvSpPr>
          <p:cNvPr id="5" name="Text 2"/>
          <p:cNvSpPr/>
          <p:nvPr/>
        </p:nvSpPr>
        <p:spPr>
          <a:xfrm>
            <a:off x="6126480" y="4160520"/>
            <a:ext cx="2880360" cy="274320"/>
          </a:xfrm>
          <a:prstGeom prst="rect">
            <a:avLst/>
          </a:prstGeom>
          <a:noFill/>
          <a:ln/>
        </p:spPr>
        <p:txBody>
          <a:bodyPr wrap="square" lIns="0" tIns="0" rIns="0" bIns="0" rtlCol="0" anchor="ctr"/>
          <a:lstStyle/>
          <a:p>
            <a:pPr marL="0" indent="0" algn="ctr">
              <a:buNone/>
            </a:pPr>
            <a:r>
              <a:rPr lang="en-US" sz="900" b="1" kern="0" spc="100" dirty="0">
                <a:solidFill>
                  <a:srgbClr val="B07B33"/>
                </a:solidFill>
                <a:latin typeface="Calibri" pitchFamily="34" charset="0"/>
                <a:ea typeface="Calibri" pitchFamily="34" charset="-122"/>
                <a:cs typeface="Calibri" pitchFamily="34" charset="-120"/>
              </a:rPr>
              <a:t>SUSTAINABILITY THROUGH STRATEGY</a:t>
            </a:r>
            <a:endParaRPr lang="en-US" sz="900" dirty="0"/>
          </a:p>
        </p:txBody>
      </p:sp>
      <p:sp>
        <p:nvSpPr>
          <p:cNvPr id="6" name="Text 3"/>
          <p:cNvSpPr/>
          <p:nvPr/>
        </p:nvSpPr>
        <p:spPr>
          <a:xfrm>
            <a:off x="640080" y="566928"/>
            <a:ext cx="5029200" cy="274320"/>
          </a:xfrm>
          <a:prstGeom prst="rect">
            <a:avLst/>
          </a:prstGeom>
          <a:noFill/>
          <a:ln/>
        </p:spPr>
        <p:txBody>
          <a:bodyPr wrap="square" lIns="0" tIns="0" rIns="0" bIns="0" rtlCol="0" anchor="ctr"/>
          <a:lstStyle/>
          <a:p>
            <a:pPr marL="0" indent="0">
              <a:buNone/>
            </a:pPr>
            <a:r>
              <a:rPr lang="en-US" sz="1100" b="1" kern="0" spc="200" dirty="0">
                <a:solidFill>
                  <a:srgbClr val="7C8A6B"/>
                </a:solidFill>
                <a:latin typeface="Calibri" pitchFamily="34" charset="0"/>
                <a:ea typeface="Calibri" pitchFamily="34" charset="-122"/>
                <a:cs typeface="Calibri" pitchFamily="34" charset="-120"/>
              </a:rPr>
              <a:t>ARTICLE   ·   15 MIN READ</a:t>
            </a:r>
            <a:endParaRPr lang="en-US" sz="1100" dirty="0"/>
          </a:p>
        </p:txBody>
      </p:sp>
      <p:sp>
        <p:nvSpPr>
          <p:cNvPr id="7" name="Text 0"/>
          <p:cNvSpPr>
            <a:spLocks noGrp="1"/>
          </p:cNvSpPr>
          <p:nvPr>
            <p:ph type="title" idx="100" hasCustomPrompt="1"/>
          </p:nvPr>
        </p:nvSpPr>
        <p:spPr>
          <a:xfrm>
            <a:off x="640080" y="932688"/>
            <a:ext cx="5120640" cy="1554480"/>
          </a:xfrm>
          <a:prstGeom prst="rect">
            <a:avLst/>
          </a:prstGeom>
          <a:noFill/>
          <a:ln/>
        </p:spPr>
        <p:txBody>
          <a:bodyPr wrap="square" lIns="0" tIns="0" rIns="0" bIns="0" rtlCol="0" anchor="t"/>
          <a:lstStyle/>
          <a:p>
            <a:pPr marL="0" indent="0" algn="l">
              <a:buNone/>
            </a:pPr>
            <a:r>
              <a:rPr lang="en-US" sz="2500" b="1" dirty="0">
                <a:solidFill>
                  <a:srgbClr val="F6EFE4"/>
                </a:solidFill>
                <a:latin typeface="Georgia" pitchFamily="34" charset="0"/>
                <a:ea typeface="Georgia" pitchFamily="34" charset="-122"/>
                <a:cs typeface="Georgia" pitchFamily="34" charset="-120"/>
              </a:rPr>
              <a:t>Bridging Strategy, Governance and Delivery</a:t>
            </a:r>
            <a:endParaRPr lang="en-US" sz="2500" dirty="0"/>
          </a:p>
        </p:txBody>
      </p:sp>
      <p:sp>
        <p:nvSpPr>
          <p:cNvPr id="8" name="Text 5"/>
          <p:cNvSpPr/>
          <p:nvPr/>
        </p:nvSpPr>
        <p:spPr>
          <a:xfrm>
            <a:off x="640080" y="2487168"/>
            <a:ext cx="4937760" cy="868680"/>
          </a:xfrm>
          <a:prstGeom prst="rect">
            <a:avLst/>
          </a:prstGeom>
          <a:noFill/>
          <a:ln/>
        </p:spPr>
        <p:txBody>
          <a:bodyPr wrap="square" lIns="0" tIns="0" rIns="0" bIns="0" rtlCol="0" anchor="t"/>
          <a:lstStyle/>
          <a:p>
            <a:pPr marL="0" indent="0" algn="l">
              <a:lnSpc>
                <a:spcPct val="108000"/>
              </a:lnSpc>
              <a:buNone/>
            </a:pPr>
            <a:r>
              <a:rPr lang="en-US" sz="1350" i="1" dirty="0">
                <a:solidFill>
                  <a:srgbClr val="CFC4B3"/>
                </a:solidFill>
                <a:latin typeface="Georgia" pitchFamily="34" charset="0"/>
                <a:ea typeface="Georgia" pitchFamily="34" charset="-122"/>
                <a:cs typeface="Georgia" pitchFamily="34" charset="-120"/>
              </a:rPr>
              <a:t>Why organisations deliver better outcomes when strategy, governance and delivery work together — not in isolation.</a:t>
            </a:r>
            <a:endParaRPr lang="en-US" sz="1350" dirty="0"/>
          </a:p>
        </p:txBody>
      </p:sp>
      <p:sp>
        <p:nvSpPr>
          <p:cNvPr id="9" name="Text 6"/>
          <p:cNvSpPr/>
          <p:nvPr/>
        </p:nvSpPr>
        <p:spPr>
          <a:xfrm>
            <a:off x="640080" y="3456432"/>
            <a:ext cx="4937760" cy="292608"/>
          </a:xfrm>
          <a:prstGeom prst="rect">
            <a:avLst/>
          </a:prstGeom>
          <a:noFill/>
          <a:ln/>
        </p:spPr>
        <p:txBody>
          <a:bodyPr wrap="square" lIns="0" tIns="0" rIns="0" bIns="0" rtlCol="0" anchor="ctr"/>
          <a:lstStyle/>
          <a:p>
            <a:pPr marL="0" indent="0">
              <a:buNone/>
            </a:pPr>
            <a:r>
              <a:rPr lang="en-US" sz="1700" b="1" dirty="0">
                <a:solidFill>
                  <a:srgbClr val="F6EFE4"/>
                </a:solidFill>
                <a:latin typeface="Georgia" pitchFamily="34" charset="0"/>
                <a:ea typeface="Georgia" pitchFamily="34" charset="-122"/>
                <a:cs typeface="Georgia" pitchFamily="34" charset="-120"/>
              </a:rPr>
              <a:t>Satya Gady</a:t>
            </a:r>
            <a:endParaRPr lang="en-US" sz="1700" dirty="0"/>
          </a:p>
        </p:txBody>
      </p:sp>
      <p:sp>
        <p:nvSpPr>
          <p:cNvPr id="10" name="Text 7"/>
          <p:cNvSpPr/>
          <p:nvPr/>
        </p:nvSpPr>
        <p:spPr>
          <a:xfrm>
            <a:off x="640080" y="3767328"/>
            <a:ext cx="4937760" cy="256032"/>
          </a:xfrm>
          <a:prstGeom prst="rect">
            <a:avLst/>
          </a:prstGeom>
          <a:noFill/>
          <a:ln/>
        </p:spPr>
        <p:txBody>
          <a:bodyPr wrap="square" lIns="0" tIns="0" rIns="0" bIns="0" rtlCol="0" anchor="ctr"/>
          <a:lstStyle/>
          <a:p>
            <a:pPr marL="0" indent="0">
              <a:buNone/>
            </a:pPr>
            <a:r>
              <a:rPr lang="en-US" sz="1050" dirty="0">
                <a:solidFill>
                  <a:srgbClr val="9A8E7C"/>
                </a:solidFill>
                <a:latin typeface="Calibri" pitchFamily="34" charset="0"/>
                <a:ea typeface="Calibri" pitchFamily="34" charset="-122"/>
                <a:cs typeface="Calibri" pitchFamily="34" charset="-120"/>
              </a:rPr>
              <a:t>MBA, MGPM, CMgr, CPPM, FIML</a:t>
            </a:r>
            <a:endParaRPr lang="en-US" sz="1050" dirty="0"/>
          </a:p>
        </p:txBody>
      </p:sp>
      <p:sp>
        <p:nvSpPr>
          <p:cNvPr id="11" name="Text 8"/>
          <p:cNvSpPr/>
          <p:nvPr/>
        </p:nvSpPr>
        <p:spPr>
          <a:xfrm>
            <a:off x="640080" y="4005072"/>
            <a:ext cx="4937760" cy="274320"/>
          </a:xfrm>
          <a:prstGeom prst="rect">
            <a:avLst/>
          </a:prstGeom>
          <a:noFill/>
          <a:ln/>
        </p:spPr>
        <p:txBody>
          <a:bodyPr wrap="square" lIns="0" tIns="0" rIns="0" bIns="0" rtlCol="0" anchor="ctr"/>
          <a:lstStyle/>
          <a:p>
            <a:pPr marL="0" indent="0">
              <a:buNone/>
            </a:pPr>
            <a:r>
              <a:rPr lang="en-US" sz="1150" b="1" dirty="0">
                <a:solidFill>
                  <a:srgbClr val="B07B33"/>
                </a:solidFill>
                <a:latin typeface="Calibri" pitchFamily="34" charset="0"/>
                <a:ea typeface="Calibri" pitchFamily="34" charset="-122"/>
                <a:cs typeface="Calibri" pitchFamily="34" charset="-120"/>
              </a:rPr>
              <a:t>Founder &amp; Principal Consultant, ESSGEE Projects</a:t>
            </a:r>
            <a:endParaRPr lang="en-US" sz="1150" dirty="0"/>
          </a:p>
        </p:txBody>
      </p:sp>
      <p:sp>
        <p:nvSpPr>
          <p:cNvPr id="12" name="Shape 9"/>
          <p:cNvSpPr/>
          <p:nvPr/>
        </p:nvSpPr>
        <p:spPr>
          <a:xfrm>
            <a:off x="640080" y="4498848"/>
            <a:ext cx="4937760" cy="10973"/>
          </a:xfrm>
          <a:prstGeom prst="rect">
            <a:avLst/>
          </a:prstGeom>
          <a:solidFill>
            <a:srgbClr val="4A403A"/>
          </a:solidFill>
          <a:ln/>
        </p:spPr>
        <p:txBody>
          <a:bodyPr/>
          <a:lstStyle/>
          <a:p>
            <a:endParaRPr lang="en-AU"/>
          </a:p>
        </p:txBody>
      </p:sp>
      <p:sp>
        <p:nvSpPr>
          <p:cNvPr id="13" name="Text 10"/>
          <p:cNvSpPr/>
          <p:nvPr/>
        </p:nvSpPr>
        <p:spPr>
          <a:xfrm>
            <a:off x="640080" y="4626864"/>
            <a:ext cx="5029200" cy="292608"/>
          </a:xfrm>
          <a:prstGeom prst="rect">
            <a:avLst/>
          </a:prstGeom>
          <a:noFill/>
          <a:ln/>
        </p:spPr>
        <p:txBody>
          <a:bodyPr wrap="square" lIns="0" tIns="0" rIns="0" bIns="0" rtlCol="0" anchor="ctr"/>
          <a:lstStyle/>
          <a:p>
            <a:pPr marL="0" indent="0" algn="l">
              <a:buNone/>
            </a:pPr>
            <a:r>
              <a:rPr lang="en-US" sz="950" b="1" kern="0" spc="50" dirty="0">
                <a:solidFill>
                  <a:srgbClr val="F6EFE4"/>
                </a:solidFill>
                <a:latin typeface="Calibri" pitchFamily="34" charset="0"/>
                <a:ea typeface="Calibri" pitchFamily="34" charset="-122"/>
                <a:cs typeface="Calibri" pitchFamily="34" charset="-120"/>
              </a:rPr>
              <a:t>30+ </a:t>
            </a:r>
            <a:r>
              <a:rPr lang="en-US" sz="950" kern="0" spc="50" dirty="0">
                <a:solidFill>
                  <a:srgbClr val="7C8A6B"/>
                </a:solidFill>
                <a:latin typeface="Calibri" pitchFamily="34" charset="0"/>
                <a:ea typeface="Calibri" pitchFamily="34" charset="-122"/>
                <a:cs typeface="Calibri" pitchFamily="34" charset="-120"/>
              </a:rPr>
              <a:t>YEARS     AUD </a:t>
            </a:r>
            <a:r>
              <a:rPr lang="en-US" sz="950" b="1" kern="0" spc="50" dirty="0">
                <a:solidFill>
                  <a:srgbClr val="F6EFE4"/>
                </a:solidFill>
                <a:latin typeface="Calibri" pitchFamily="34" charset="0"/>
                <a:ea typeface="Calibri" pitchFamily="34" charset="-122"/>
                <a:cs typeface="Calibri" pitchFamily="34" charset="-120"/>
              </a:rPr>
              <a:t>2.7B+ </a:t>
            </a:r>
            <a:r>
              <a:rPr lang="en-US" sz="950" kern="0" spc="50" dirty="0">
                <a:solidFill>
                  <a:srgbClr val="7C8A6B"/>
                </a:solidFill>
                <a:latin typeface="Calibri" pitchFamily="34" charset="0"/>
                <a:ea typeface="Calibri" pitchFamily="34" charset="-122"/>
                <a:cs typeface="Calibri" pitchFamily="34" charset="-120"/>
              </a:rPr>
              <a:t>PORTFOLIO</a:t>
            </a:r>
            <a:r>
              <a:rPr lang="en-US" sz="950" b="1" kern="0" spc="50" dirty="0">
                <a:solidFill>
                  <a:srgbClr val="F6EFE4"/>
                </a:solidFill>
                <a:latin typeface="Calibri" pitchFamily="34" charset="0"/>
                <a:ea typeface="Calibri" pitchFamily="34" charset="-122"/>
                <a:cs typeface="Calibri" pitchFamily="34" charset="-120"/>
              </a:rPr>
              <a:t>     35+ </a:t>
            </a:r>
            <a:r>
              <a:rPr lang="en-US" sz="950" kern="0" spc="50" dirty="0">
                <a:solidFill>
                  <a:srgbClr val="7C8A6B"/>
                </a:solidFill>
                <a:latin typeface="Calibri" pitchFamily="34" charset="0"/>
                <a:ea typeface="Calibri" pitchFamily="34" charset="-122"/>
                <a:cs typeface="Calibri" pitchFamily="34" charset="-120"/>
              </a:rPr>
              <a:t>MAJOR PROJECTS</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3EA"/>
        </a:solidFill>
        <a:effectLst/>
      </p:bgPr>
    </p:bg>
    <p:spTree>
      <p:nvGrpSpPr>
        <p:cNvPr id="1" name=""/>
        <p:cNvGrpSpPr/>
        <p:nvPr/>
      </p:nvGrpSpPr>
      <p:grpSpPr>
        <a:xfrm>
          <a:off x="0" y="0"/>
          <a:ext cx="0" cy="0"/>
          <a:chOff x="0" y="0"/>
          <a:chExt cx="0" cy="0"/>
        </a:xfrm>
      </p:grpSpPr>
      <p:sp>
        <p:nvSpPr>
          <p:cNvPr id="2" name="Text 0"/>
          <p:cNvSpPr/>
          <p:nvPr/>
        </p:nvSpPr>
        <p:spPr>
          <a:xfrm>
            <a:off x="548640" y="292608"/>
            <a:ext cx="5669280" cy="274320"/>
          </a:xfrm>
          <a:prstGeom prst="rect">
            <a:avLst/>
          </a:prstGeom>
          <a:noFill/>
          <a:ln/>
        </p:spPr>
        <p:txBody>
          <a:bodyPr wrap="square" lIns="0" tIns="0" rIns="0" bIns="0" rtlCol="0" anchor="ctr"/>
          <a:lstStyle/>
          <a:p>
            <a:pPr marL="0" indent="0" algn="l">
              <a:buNone/>
            </a:pPr>
            <a:r>
              <a:rPr lang="en-US" sz="850" b="1" kern="0" spc="150" dirty="0">
                <a:solidFill>
                  <a:srgbClr val="7C8A6B"/>
                </a:solidFill>
                <a:latin typeface="Calibri" pitchFamily="34" charset="0"/>
                <a:ea typeface="Calibri" pitchFamily="34" charset="-122"/>
                <a:cs typeface="Calibri" pitchFamily="34" charset="-120"/>
              </a:rPr>
              <a:t>BRIDGING STRATEGY, GOVERNANCE &amp; DELIVERY</a:t>
            </a:r>
            <a:endParaRPr lang="en-US" sz="850" dirty="0"/>
          </a:p>
        </p:txBody>
      </p:sp>
      <p:sp>
        <p:nvSpPr>
          <p:cNvPr id="3" name="Text 1"/>
          <p:cNvSpPr/>
          <p:nvPr/>
        </p:nvSpPr>
        <p:spPr>
          <a:xfrm>
            <a:off x="6126480" y="292608"/>
            <a:ext cx="2468880" cy="274320"/>
          </a:xfrm>
          <a:prstGeom prst="rect">
            <a:avLst/>
          </a:prstGeom>
          <a:noFill/>
          <a:ln/>
        </p:spPr>
        <p:txBody>
          <a:bodyPr wrap="square" lIns="0" tIns="0" rIns="0" bIns="0" rtlCol="0" anchor="ctr"/>
          <a:lstStyle/>
          <a:p>
            <a:pPr marL="0" indent="0" algn="r">
              <a:buNone/>
            </a:pPr>
            <a:r>
              <a:rPr lang="en-US" sz="850" b="1" kern="0" spc="150" dirty="0">
                <a:solidFill>
                  <a:srgbClr val="B07B33"/>
                </a:solidFill>
                <a:latin typeface="Calibri" pitchFamily="34" charset="0"/>
                <a:ea typeface="Calibri" pitchFamily="34" charset="-122"/>
                <a:cs typeface="Calibri" pitchFamily="34" charset="-120"/>
              </a:rPr>
              <a:t>ESSGEE PROJECTS</a:t>
            </a:r>
            <a:endParaRPr lang="en-US" sz="850" dirty="0"/>
          </a:p>
        </p:txBody>
      </p:sp>
      <p:sp>
        <p:nvSpPr>
          <p:cNvPr id="4" name="Text 2"/>
          <p:cNvSpPr/>
          <p:nvPr/>
        </p:nvSpPr>
        <p:spPr>
          <a:xfrm>
            <a:off x="8229600" y="4718304"/>
            <a:ext cx="457200" cy="274320"/>
          </a:xfrm>
          <a:prstGeom prst="rect">
            <a:avLst/>
          </a:prstGeom>
          <a:noFill/>
          <a:ln/>
        </p:spPr>
        <p:txBody>
          <a:bodyPr wrap="square" lIns="0" tIns="0" rIns="0" bIns="0" rtlCol="0" anchor="ctr"/>
          <a:lstStyle/>
          <a:p>
            <a:pPr marL="0" indent="0" algn="r">
              <a:buNone/>
            </a:pPr>
            <a:r>
              <a:rPr lang="en-US" sz="900" dirty="0">
                <a:solidFill>
                  <a:srgbClr val="9A8E7C"/>
                </a:solidFill>
                <a:latin typeface="Calibri" pitchFamily="34" charset="0"/>
                <a:ea typeface="Calibri" pitchFamily="34" charset="-122"/>
                <a:cs typeface="Calibri" pitchFamily="34" charset="-120"/>
              </a:rPr>
              <a:t>2</a:t>
            </a:r>
            <a:endParaRPr lang="en-US" sz="900" dirty="0"/>
          </a:p>
        </p:txBody>
      </p:sp>
      <p:sp>
        <p:nvSpPr>
          <p:cNvPr id="5" name="Shape 3"/>
          <p:cNvSpPr/>
          <p:nvPr/>
        </p:nvSpPr>
        <p:spPr>
          <a:xfrm>
            <a:off x="548640" y="603504"/>
            <a:ext cx="8046720" cy="10973"/>
          </a:xfrm>
          <a:prstGeom prst="rect">
            <a:avLst/>
          </a:prstGeom>
          <a:solidFill>
            <a:srgbClr val="E4DACA"/>
          </a:solidFill>
          <a:ln/>
        </p:spPr>
        <p:txBody>
          <a:bodyPr/>
          <a:lstStyle/>
          <a:p>
            <a:endParaRPr lang="en-AU"/>
          </a:p>
        </p:txBody>
      </p:sp>
      <p:sp>
        <p:nvSpPr>
          <p:cNvPr id="6" name="Text 4"/>
          <p:cNvSpPr/>
          <p:nvPr/>
        </p:nvSpPr>
        <p:spPr>
          <a:xfrm>
            <a:off x="548640" y="786384"/>
            <a:ext cx="8046720" cy="274320"/>
          </a:xfrm>
          <a:prstGeom prst="rect">
            <a:avLst/>
          </a:prstGeom>
          <a:noFill/>
          <a:ln/>
        </p:spPr>
        <p:txBody>
          <a:bodyPr wrap="square" lIns="0" tIns="0" rIns="0" bIns="0" rtlCol="0" anchor="ctr"/>
          <a:lstStyle/>
          <a:p>
            <a:pPr marL="0" indent="0" algn="l">
              <a:buNone/>
            </a:pPr>
            <a:r>
              <a:rPr lang="en-US" sz="1150" b="1" kern="0" spc="200" dirty="0">
                <a:solidFill>
                  <a:srgbClr val="B0533F"/>
                </a:solidFill>
                <a:latin typeface="Calibri" pitchFamily="34" charset="0"/>
                <a:ea typeface="Calibri" pitchFamily="34" charset="-122"/>
                <a:cs typeface="Calibri" pitchFamily="34" charset="-120"/>
              </a:rPr>
              <a:t>INTRODUCTION</a:t>
            </a:r>
            <a:endParaRPr lang="en-US" sz="1150" dirty="0"/>
          </a:p>
        </p:txBody>
      </p:sp>
      <p:sp>
        <p:nvSpPr>
          <p:cNvPr id="7" name="Text 0"/>
          <p:cNvSpPr>
            <a:spLocks noGrp="1"/>
          </p:cNvSpPr>
          <p:nvPr>
            <p:ph type="title" idx="100" hasCustomPrompt="1"/>
          </p:nvPr>
        </p:nvSpPr>
        <p:spPr>
          <a:xfrm>
            <a:off x="548640" y="914400"/>
            <a:ext cx="8046720" cy="731520"/>
          </a:xfrm>
          <a:prstGeom prst="rect">
            <a:avLst/>
          </a:prstGeom>
          <a:noFill/>
          <a:ln/>
        </p:spPr>
        <p:txBody>
          <a:bodyPr wrap="square" lIns="0" tIns="0" rIns="0" bIns="0" rtlCol="0" anchor="ctr"/>
          <a:lstStyle/>
          <a:p>
            <a:pPr marL="0" indent="0" algn="l">
              <a:buNone/>
            </a:pPr>
            <a:r>
              <a:rPr lang="en-US" sz="2700" b="1" dirty="0">
                <a:solidFill>
                  <a:srgbClr val="2A2520"/>
                </a:solidFill>
                <a:latin typeface="Georgia" pitchFamily="34" charset="0"/>
                <a:ea typeface="Georgia" pitchFamily="34" charset="-122"/>
                <a:cs typeface="Georgia" pitchFamily="34" charset="-120"/>
              </a:rPr>
              <a:t>Three functions, one outcome</a:t>
            </a:r>
            <a:endParaRPr lang="en-US" sz="2700" dirty="0"/>
          </a:p>
        </p:txBody>
      </p:sp>
      <p:sp>
        <p:nvSpPr>
          <p:cNvPr id="8" name="Text 6"/>
          <p:cNvSpPr/>
          <p:nvPr/>
        </p:nvSpPr>
        <p:spPr>
          <a:xfrm>
            <a:off x="548640" y="1828800"/>
            <a:ext cx="4663440" cy="2743200"/>
          </a:xfrm>
          <a:prstGeom prst="rect">
            <a:avLst/>
          </a:prstGeom>
          <a:noFill/>
          <a:ln/>
        </p:spPr>
        <p:txBody>
          <a:bodyPr wrap="square" lIns="0" tIns="0" rIns="0" bIns="0" rtlCol="0" anchor="t"/>
          <a:lstStyle/>
          <a:p>
            <a:pPr marL="0" indent="0" algn="l">
              <a:lnSpc>
                <a:spcPct val="105000"/>
              </a:lnSpc>
              <a:spcAft>
                <a:spcPts val="800"/>
              </a:spcAft>
              <a:buNone/>
            </a:pPr>
            <a:r>
              <a:rPr lang="en-US" sz="1250" dirty="0">
                <a:solidFill>
                  <a:srgbClr val="4A423A"/>
                </a:solidFill>
                <a:latin typeface="Calibri" pitchFamily="34" charset="0"/>
                <a:ea typeface="Calibri" pitchFamily="34" charset="-122"/>
                <a:cs typeface="Calibri" pitchFamily="34" charset="-120"/>
              </a:rPr>
              <a:t>In most organisations, strategy, governance and delivery live in different rooms — executives set strategy, corporate functions own governance, and operational teams are handed delivery. Each is good at its part, yet projects still overrun and investments underdeliver.</a:t>
            </a:r>
            <a:endParaRPr lang="en-US" sz="1250" dirty="0"/>
          </a:p>
          <a:p>
            <a:pPr marL="0" indent="0" algn="l">
              <a:lnSpc>
                <a:spcPct val="105000"/>
              </a:lnSpc>
              <a:spcAft>
                <a:spcPts val="800"/>
              </a:spcAft>
              <a:buNone/>
            </a:pPr>
            <a:r>
              <a:rPr lang="en-US" sz="1250" dirty="0">
                <a:solidFill>
                  <a:srgbClr val="4A423A"/>
                </a:solidFill>
                <a:latin typeface="Calibri" pitchFamily="34" charset="0"/>
                <a:ea typeface="Calibri" pitchFamily="34" charset="-122"/>
                <a:cs typeface="Calibri" pitchFamily="34" charset="-120"/>
              </a:rPr>
              <a:t>Worked in isolation, decisions fragment and accountability blurs. The ESSGEE Projects philosophy is simple: lasting performance comes from running the three as one operating model, not three.</a:t>
            </a:r>
            <a:endParaRPr lang="en-US" sz="1250" dirty="0"/>
          </a:p>
          <a:p>
            <a:pPr marL="0" indent="0" algn="l">
              <a:lnSpc>
                <a:spcPct val="105000"/>
              </a:lnSpc>
              <a:buNone/>
            </a:pPr>
            <a:r>
              <a:rPr lang="en-US" sz="1250" dirty="0">
                <a:solidFill>
                  <a:srgbClr val="4A423A"/>
                </a:solidFill>
                <a:latin typeface="Calibri" pitchFamily="34" charset="0"/>
                <a:ea typeface="Calibri" pitchFamily="34" charset="-122"/>
                <a:cs typeface="Calibri" pitchFamily="34" charset="-120"/>
              </a:rPr>
              <a:t>Treated this way, the disciplines reinforce one another — building organisations resilient enough to navigate complexity, manage risk and create value that lasts.</a:t>
            </a:r>
            <a:endParaRPr lang="en-US" sz="1250" dirty="0"/>
          </a:p>
        </p:txBody>
      </p:sp>
      <p:sp>
        <p:nvSpPr>
          <p:cNvPr id="9" name="Shape 7"/>
          <p:cNvSpPr/>
          <p:nvPr/>
        </p:nvSpPr>
        <p:spPr>
          <a:xfrm>
            <a:off x="5486400" y="1828800"/>
            <a:ext cx="1828800" cy="566928"/>
          </a:xfrm>
          <a:prstGeom prst="roundRect">
            <a:avLst>
              <a:gd name="adj" fmla="val 50000"/>
            </a:avLst>
          </a:prstGeom>
          <a:solidFill>
            <a:srgbClr val="7C8A6B"/>
          </a:solidFill>
          <a:ln/>
          <a:effectLst>
            <a:outerShdw blurRad="88900" dist="38100" dir="5400000" algn="bl" rotWithShape="0">
              <a:srgbClr val="6B5E4A">
                <a:alpha val="18000"/>
              </a:srgbClr>
            </a:outerShdw>
          </a:effectLst>
        </p:spPr>
        <p:txBody>
          <a:bodyPr/>
          <a:lstStyle/>
          <a:p>
            <a:endParaRPr lang="en-AU"/>
          </a:p>
        </p:txBody>
      </p:sp>
      <p:sp>
        <p:nvSpPr>
          <p:cNvPr id="10" name="Text 8"/>
          <p:cNvSpPr/>
          <p:nvPr/>
        </p:nvSpPr>
        <p:spPr>
          <a:xfrm>
            <a:off x="5486400" y="1828800"/>
            <a:ext cx="1828800" cy="566928"/>
          </a:xfrm>
          <a:prstGeom prst="rect">
            <a:avLst/>
          </a:prstGeom>
          <a:noFill/>
          <a:ln/>
        </p:spPr>
        <p:txBody>
          <a:bodyPr wrap="square" lIns="0" tIns="0" rIns="0" bIns="0" rtlCol="0" anchor="ctr"/>
          <a:lstStyle/>
          <a:p>
            <a:pPr marL="0" indent="0" algn="ctr">
              <a:buNone/>
            </a:pPr>
            <a:r>
              <a:rPr lang="en-US" sz="1250" b="1" dirty="0">
                <a:solidFill>
                  <a:srgbClr val="F6EFE4"/>
                </a:solidFill>
                <a:latin typeface="Calibri" pitchFamily="34" charset="0"/>
                <a:ea typeface="Calibri" pitchFamily="34" charset="-122"/>
                <a:cs typeface="Calibri" pitchFamily="34" charset="-120"/>
              </a:rPr>
              <a:t>Strategy</a:t>
            </a:r>
            <a:endParaRPr lang="en-US" sz="1250" dirty="0"/>
          </a:p>
        </p:txBody>
      </p:sp>
      <p:sp>
        <p:nvSpPr>
          <p:cNvPr id="11" name="Shape 9"/>
          <p:cNvSpPr/>
          <p:nvPr/>
        </p:nvSpPr>
        <p:spPr>
          <a:xfrm>
            <a:off x="5486400" y="2651760"/>
            <a:ext cx="1828800" cy="566928"/>
          </a:xfrm>
          <a:prstGeom prst="roundRect">
            <a:avLst>
              <a:gd name="adj" fmla="val 50000"/>
            </a:avLst>
          </a:prstGeom>
          <a:solidFill>
            <a:srgbClr val="B07B33"/>
          </a:solidFill>
          <a:ln/>
          <a:effectLst>
            <a:outerShdw blurRad="88900" dist="38100" dir="5400000" algn="bl" rotWithShape="0">
              <a:srgbClr val="6B5E4A">
                <a:alpha val="18000"/>
              </a:srgbClr>
            </a:outerShdw>
          </a:effectLst>
        </p:spPr>
        <p:txBody>
          <a:bodyPr/>
          <a:lstStyle/>
          <a:p>
            <a:endParaRPr lang="en-AU"/>
          </a:p>
        </p:txBody>
      </p:sp>
      <p:sp>
        <p:nvSpPr>
          <p:cNvPr id="12" name="Text 10"/>
          <p:cNvSpPr/>
          <p:nvPr/>
        </p:nvSpPr>
        <p:spPr>
          <a:xfrm>
            <a:off x="5486400" y="2651760"/>
            <a:ext cx="1828800" cy="566928"/>
          </a:xfrm>
          <a:prstGeom prst="rect">
            <a:avLst/>
          </a:prstGeom>
          <a:noFill/>
          <a:ln/>
        </p:spPr>
        <p:txBody>
          <a:bodyPr wrap="square" lIns="0" tIns="0" rIns="0" bIns="0" rtlCol="0" anchor="ctr"/>
          <a:lstStyle/>
          <a:p>
            <a:pPr marL="0" indent="0" algn="ctr">
              <a:buNone/>
            </a:pPr>
            <a:r>
              <a:rPr lang="en-US" sz="1250" b="1" dirty="0">
                <a:solidFill>
                  <a:srgbClr val="F6EFE4"/>
                </a:solidFill>
                <a:latin typeface="Calibri" pitchFamily="34" charset="0"/>
                <a:ea typeface="Calibri" pitchFamily="34" charset="-122"/>
                <a:cs typeface="Calibri" pitchFamily="34" charset="-120"/>
              </a:rPr>
              <a:t>Governance</a:t>
            </a:r>
            <a:endParaRPr lang="en-US" sz="1250" dirty="0"/>
          </a:p>
        </p:txBody>
      </p:sp>
      <p:sp>
        <p:nvSpPr>
          <p:cNvPr id="13" name="Shape 11"/>
          <p:cNvSpPr/>
          <p:nvPr/>
        </p:nvSpPr>
        <p:spPr>
          <a:xfrm>
            <a:off x="5486400" y="3474720"/>
            <a:ext cx="1828800" cy="566928"/>
          </a:xfrm>
          <a:prstGeom prst="roundRect">
            <a:avLst>
              <a:gd name="adj" fmla="val 50000"/>
            </a:avLst>
          </a:prstGeom>
          <a:solidFill>
            <a:srgbClr val="B0533F"/>
          </a:solidFill>
          <a:ln/>
          <a:effectLst>
            <a:outerShdw blurRad="88900" dist="38100" dir="5400000" algn="bl" rotWithShape="0">
              <a:srgbClr val="6B5E4A">
                <a:alpha val="18000"/>
              </a:srgbClr>
            </a:outerShdw>
          </a:effectLst>
        </p:spPr>
        <p:txBody>
          <a:bodyPr/>
          <a:lstStyle/>
          <a:p>
            <a:endParaRPr lang="en-AU"/>
          </a:p>
        </p:txBody>
      </p:sp>
      <p:sp>
        <p:nvSpPr>
          <p:cNvPr id="14" name="Text 12"/>
          <p:cNvSpPr/>
          <p:nvPr/>
        </p:nvSpPr>
        <p:spPr>
          <a:xfrm>
            <a:off x="5486400" y="3474720"/>
            <a:ext cx="1828800" cy="566928"/>
          </a:xfrm>
          <a:prstGeom prst="rect">
            <a:avLst/>
          </a:prstGeom>
          <a:noFill/>
          <a:ln/>
        </p:spPr>
        <p:txBody>
          <a:bodyPr wrap="square" lIns="0" tIns="0" rIns="0" bIns="0" rtlCol="0" anchor="ctr"/>
          <a:lstStyle/>
          <a:p>
            <a:pPr marL="0" indent="0" algn="ctr">
              <a:buNone/>
            </a:pPr>
            <a:r>
              <a:rPr lang="en-US" sz="1250" b="1" dirty="0">
                <a:solidFill>
                  <a:srgbClr val="F6EFE4"/>
                </a:solidFill>
                <a:latin typeface="Calibri" pitchFamily="34" charset="0"/>
                <a:ea typeface="Calibri" pitchFamily="34" charset="-122"/>
                <a:cs typeface="Calibri" pitchFamily="34" charset="-120"/>
              </a:rPr>
              <a:t>Delivery</a:t>
            </a:r>
            <a:endParaRPr lang="en-US" sz="1250" dirty="0"/>
          </a:p>
        </p:txBody>
      </p:sp>
      <p:sp>
        <p:nvSpPr>
          <p:cNvPr id="15" name="Shape 13"/>
          <p:cNvSpPr/>
          <p:nvPr/>
        </p:nvSpPr>
        <p:spPr>
          <a:xfrm>
            <a:off x="7315200" y="2112264"/>
            <a:ext cx="137160" cy="804672"/>
          </a:xfrm>
          <a:prstGeom prst="line">
            <a:avLst/>
          </a:prstGeom>
          <a:noFill/>
          <a:ln w="19050">
            <a:solidFill>
              <a:srgbClr val="B07B33"/>
            </a:solidFill>
            <a:prstDash val="solid"/>
          </a:ln>
        </p:spPr>
        <p:txBody>
          <a:bodyPr/>
          <a:lstStyle/>
          <a:p>
            <a:endParaRPr lang="en-AU"/>
          </a:p>
        </p:txBody>
      </p:sp>
      <p:sp>
        <p:nvSpPr>
          <p:cNvPr id="16" name="Shape 14"/>
          <p:cNvSpPr/>
          <p:nvPr/>
        </p:nvSpPr>
        <p:spPr>
          <a:xfrm flipH="1">
            <a:off x="7315200" y="2916936"/>
            <a:ext cx="137160" cy="18288"/>
          </a:xfrm>
          <a:prstGeom prst="line">
            <a:avLst/>
          </a:prstGeom>
          <a:noFill/>
          <a:ln w="19050">
            <a:solidFill>
              <a:srgbClr val="B07B33"/>
            </a:solidFill>
            <a:prstDash val="solid"/>
          </a:ln>
        </p:spPr>
        <p:txBody>
          <a:bodyPr/>
          <a:lstStyle/>
          <a:p>
            <a:endParaRPr lang="en-AU"/>
          </a:p>
        </p:txBody>
      </p:sp>
      <p:sp>
        <p:nvSpPr>
          <p:cNvPr id="17" name="Shape 15"/>
          <p:cNvSpPr/>
          <p:nvPr/>
        </p:nvSpPr>
        <p:spPr>
          <a:xfrm flipH="1">
            <a:off x="7315200" y="2916936"/>
            <a:ext cx="137160" cy="841248"/>
          </a:xfrm>
          <a:prstGeom prst="line">
            <a:avLst/>
          </a:prstGeom>
          <a:noFill/>
          <a:ln w="19050">
            <a:solidFill>
              <a:srgbClr val="B07B33"/>
            </a:solidFill>
            <a:prstDash val="solid"/>
          </a:ln>
        </p:spPr>
        <p:txBody>
          <a:bodyPr/>
          <a:lstStyle/>
          <a:p>
            <a:endParaRPr lang="en-AU"/>
          </a:p>
        </p:txBody>
      </p:sp>
      <p:sp>
        <p:nvSpPr>
          <p:cNvPr id="18" name="Shape 16"/>
          <p:cNvSpPr/>
          <p:nvPr/>
        </p:nvSpPr>
        <p:spPr>
          <a:xfrm>
            <a:off x="7360920" y="2276856"/>
            <a:ext cx="1280160" cy="1280160"/>
          </a:xfrm>
          <a:prstGeom prst="ellipse">
            <a:avLst/>
          </a:prstGeom>
          <a:solidFill>
            <a:srgbClr val="17253F"/>
          </a:solidFill>
          <a:ln w="19050">
            <a:solidFill>
              <a:srgbClr val="B07B33"/>
            </a:solidFill>
            <a:prstDash val="solid"/>
          </a:ln>
        </p:spPr>
        <p:txBody>
          <a:bodyPr/>
          <a:lstStyle/>
          <a:p>
            <a:endParaRPr lang="en-AU"/>
          </a:p>
        </p:txBody>
      </p:sp>
      <p:sp>
        <p:nvSpPr>
          <p:cNvPr id="19" name="Text 17"/>
          <p:cNvSpPr/>
          <p:nvPr/>
        </p:nvSpPr>
        <p:spPr>
          <a:xfrm>
            <a:off x="7360920" y="2276856"/>
            <a:ext cx="1280160" cy="1280160"/>
          </a:xfrm>
          <a:prstGeom prst="rect">
            <a:avLst/>
          </a:prstGeom>
          <a:noFill/>
          <a:ln/>
        </p:spPr>
        <p:txBody>
          <a:bodyPr wrap="square" lIns="0" tIns="0" rIns="0" bIns="0" rtlCol="0" anchor="ctr"/>
          <a:lstStyle/>
          <a:p>
            <a:pPr marL="0" indent="0" algn="ctr">
              <a:buNone/>
            </a:pPr>
            <a:r>
              <a:rPr lang="en-US" sz="1000" b="1" kern="0" spc="100" dirty="0">
                <a:solidFill>
                  <a:srgbClr val="B07B33"/>
                </a:solidFill>
                <a:latin typeface="Calibri" pitchFamily="34" charset="0"/>
                <a:ea typeface="Calibri" pitchFamily="34" charset="-122"/>
                <a:cs typeface="Calibri" pitchFamily="34" charset="-120"/>
              </a:rPr>
              <a:t>ONE</a:t>
            </a:r>
            <a:endParaRPr lang="en-US" sz="1000" dirty="0"/>
          </a:p>
          <a:p>
            <a:pPr marL="0" indent="0" algn="ctr">
              <a:buNone/>
            </a:pPr>
            <a:r>
              <a:rPr lang="en-US" sz="1100" b="1" kern="0" spc="100" dirty="0">
                <a:solidFill>
                  <a:srgbClr val="F6EFE4"/>
                </a:solidFill>
                <a:latin typeface="Calibri" pitchFamily="34" charset="0"/>
                <a:ea typeface="Calibri" pitchFamily="34" charset="-122"/>
                <a:cs typeface="Calibri" pitchFamily="34" charset="-120"/>
              </a:rPr>
              <a:t>OUTCOME</a:t>
            </a:r>
            <a:endParaRPr lang="en-US" sz="1000" dirty="0"/>
          </a:p>
        </p:txBody>
      </p:sp>
      <p:sp>
        <p:nvSpPr>
          <p:cNvPr id="20" name="Text 18"/>
          <p:cNvSpPr/>
          <p:nvPr/>
        </p:nvSpPr>
        <p:spPr>
          <a:xfrm>
            <a:off x="5486400" y="4343400"/>
            <a:ext cx="3108960" cy="365760"/>
          </a:xfrm>
          <a:prstGeom prst="rect">
            <a:avLst/>
          </a:prstGeom>
          <a:noFill/>
          <a:ln/>
        </p:spPr>
        <p:txBody>
          <a:bodyPr wrap="square" lIns="0" tIns="0" rIns="0" bIns="0" rtlCol="0" anchor="ctr"/>
          <a:lstStyle/>
          <a:p>
            <a:pPr marL="0" indent="0" algn="ctr">
              <a:buNone/>
            </a:pPr>
            <a:r>
              <a:rPr lang="en-US" sz="950" i="1" dirty="0">
                <a:solidFill>
                  <a:srgbClr val="9A8E7C"/>
                </a:solidFill>
                <a:latin typeface="Calibri" pitchFamily="34" charset="0"/>
                <a:ea typeface="Calibri" pitchFamily="34" charset="-122"/>
                <a:cs typeface="Calibri" pitchFamily="34" charset="-120"/>
              </a:rPr>
              <a:t>Three functions converging on a single outcome.</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3EA"/>
        </a:solidFill>
        <a:effectLst/>
      </p:bgPr>
    </p:bg>
    <p:spTree>
      <p:nvGrpSpPr>
        <p:cNvPr id="1" name=""/>
        <p:cNvGrpSpPr/>
        <p:nvPr/>
      </p:nvGrpSpPr>
      <p:grpSpPr>
        <a:xfrm>
          <a:off x="0" y="0"/>
          <a:ext cx="0" cy="0"/>
          <a:chOff x="0" y="0"/>
          <a:chExt cx="0" cy="0"/>
        </a:xfrm>
      </p:grpSpPr>
      <p:sp>
        <p:nvSpPr>
          <p:cNvPr id="2" name="Text 0"/>
          <p:cNvSpPr/>
          <p:nvPr/>
        </p:nvSpPr>
        <p:spPr>
          <a:xfrm>
            <a:off x="548640" y="292608"/>
            <a:ext cx="5669280" cy="274320"/>
          </a:xfrm>
          <a:prstGeom prst="rect">
            <a:avLst/>
          </a:prstGeom>
          <a:noFill/>
          <a:ln/>
        </p:spPr>
        <p:txBody>
          <a:bodyPr wrap="square" lIns="0" tIns="0" rIns="0" bIns="0" rtlCol="0" anchor="ctr"/>
          <a:lstStyle/>
          <a:p>
            <a:pPr marL="0" indent="0" algn="l">
              <a:buNone/>
            </a:pPr>
            <a:r>
              <a:rPr lang="en-US" sz="850" b="1" kern="0" spc="150" dirty="0">
                <a:solidFill>
                  <a:srgbClr val="7C8A6B"/>
                </a:solidFill>
                <a:latin typeface="Calibri" pitchFamily="34" charset="0"/>
                <a:ea typeface="Calibri" pitchFamily="34" charset="-122"/>
                <a:cs typeface="Calibri" pitchFamily="34" charset="-120"/>
              </a:rPr>
              <a:t>BRIDGING STRATEGY, GOVERNANCE &amp; DELIVERY</a:t>
            </a:r>
            <a:endParaRPr lang="en-US" sz="850" dirty="0"/>
          </a:p>
        </p:txBody>
      </p:sp>
      <p:sp>
        <p:nvSpPr>
          <p:cNvPr id="3" name="Text 1"/>
          <p:cNvSpPr/>
          <p:nvPr/>
        </p:nvSpPr>
        <p:spPr>
          <a:xfrm>
            <a:off x="6126480" y="292608"/>
            <a:ext cx="2468880" cy="274320"/>
          </a:xfrm>
          <a:prstGeom prst="rect">
            <a:avLst/>
          </a:prstGeom>
          <a:noFill/>
          <a:ln/>
        </p:spPr>
        <p:txBody>
          <a:bodyPr wrap="square" lIns="0" tIns="0" rIns="0" bIns="0" rtlCol="0" anchor="ctr"/>
          <a:lstStyle/>
          <a:p>
            <a:pPr marL="0" indent="0" algn="r">
              <a:buNone/>
            </a:pPr>
            <a:r>
              <a:rPr lang="en-US" sz="850" b="1" kern="0" spc="150" dirty="0">
                <a:solidFill>
                  <a:srgbClr val="B07B33"/>
                </a:solidFill>
                <a:latin typeface="Calibri" pitchFamily="34" charset="0"/>
                <a:ea typeface="Calibri" pitchFamily="34" charset="-122"/>
                <a:cs typeface="Calibri" pitchFamily="34" charset="-120"/>
              </a:rPr>
              <a:t>ESSGEE PROJECTS</a:t>
            </a:r>
            <a:endParaRPr lang="en-US" sz="850" dirty="0"/>
          </a:p>
        </p:txBody>
      </p:sp>
      <p:sp>
        <p:nvSpPr>
          <p:cNvPr id="4" name="Text 2"/>
          <p:cNvSpPr/>
          <p:nvPr/>
        </p:nvSpPr>
        <p:spPr>
          <a:xfrm>
            <a:off x="8229600" y="4718304"/>
            <a:ext cx="457200" cy="274320"/>
          </a:xfrm>
          <a:prstGeom prst="rect">
            <a:avLst/>
          </a:prstGeom>
          <a:noFill/>
          <a:ln/>
        </p:spPr>
        <p:txBody>
          <a:bodyPr wrap="square" lIns="0" tIns="0" rIns="0" bIns="0" rtlCol="0" anchor="ctr"/>
          <a:lstStyle/>
          <a:p>
            <a:pPr marL="0" indent="0" algn="r">
              <a:buNone/>
            </a:pPr>
            <a:r>
              <a:rPr lang="en-US" sz="900" dirty="0">
                <a:solidFill>
                  <a:srgbClr val="9A8E7C"/>
                </a:solidFill>
                <a:latin typeface="Calibri" pitchFamily="34" charset="0"/>
                <a:ea typeface="Calibri" pitchFamily="34" charset="-122"/>
                <a:cs typeface="Calibri" pitchFamily="34" charset="-120"/>
              </a:rPr>
              <a:t>3</a:t>
            </a:r>
            <a:endParaRPr lang="en-US" sz="900" dirty="0"/>
          </a:p>
        </p:txBody>
      </p:sp>
      <p:sp>
        <p:nvSpPr>
          <p:cNvPr id="5" name="Shape 3"/>
          <p:cNvSpPr/>
          <p:nvPr/>
        </p:nvSpPr>
        <p:spPr>
          <a:xfrm>
            <a:off x="548640" y="603504"/>
            <a:ext cx="8046720" cy="10973"/>
          </a:xfrm>
          <a:prstGeom prst="rect">
            <a:avLst/>
          </a:prstGeom>
          <a:solidFill>
            <a:srgbClr val="E4DACA"/>
          </a:solidFill>
          <a:ln/>
        </p:spPr>
        <p:txBody>
          <a:bodyPr/>
          <a:lstStyle/>
          <a:p>
            <a:endParaRPr lang="en-AU"/>
          </a:p>
        </p:txBody>
      </p:sp>
      <p:sp>
        <p:nvSpPr>
          <p:cNvPr id="6" name="Text 4"/>
          <p:cNvSpPr/>
          <p:nvPr/>
        </p:nvSpPr>
        <p:spPr>
          <a:xfrm>
            <a:off x="548640" y="786384"/>
            <a:ext cx="8046720" cy="274320"/>
          </a:xfrm>
          <a:prstGeom prst="rect">
            <a:avLst/>
          </a:prstGeom>
          <a:noFill/>
          <a:ln/>
        </p:spPr>
        <p:txBody>
          <a:bodyPr wrap="square" lIns="0" tIns="0" rIns="0" bIns="0" rtlCol="0" anchor="ctr"/>
          <a:lstStyle/>
          <a:p>
            <a:pPr marL="0" indent="0" algn="l">
              <a:buNone/>
            </a:pPr>
            <a:r>
              <a:rPr lang="en-US" sz="1150" b="1" kern="0" spc="200" dirty="0">
                <a:solidFill>
                  <a:srgbClr val="B0533F"/>
                </a:solidFill>
                <a:latin typeface="Calibri" pitchFamily="34" charset="0"/>
                <a:ea typeface="Calibri" pitchFamily="34" charset="-122"/>
                <a:cs typeface="Calibri" pitchFamily="34" charset="-120"/>
              </a:rPr>
              <a:t>01  ·  THE PROBLEM</a:t>
            </a:r>
            <a:endParaRPr lang="en-US" sz="1150" dirty="0"/>
          </a:p>
        </p:txBody>
      </p:sp>
      <p:sp>
        <p:nvSpPr>
          <p:cNvPr id="7" name="Text 0"/>
          <p:cNvSpPr>
            <a:spLocks noGrp="1"/>
          </p:cNvSpPr>
          <p:nvPr>
            <p:ph type="title" idx="100" hasCustomPrompt="1"/>
          </p:nvPr>
        </p:nvSpPr>
        <p:spPr>
          <a:xfrm>
            <a:off x="548640" y="914400"/>
            <a:ext cx="8046720" cy="731520"/>
          </a:xfrm>
          <a:prstGeom prst="rect">
            <a:avLst/>
          </a:prstGeom>
          <a:noFill/>
          <a:ln/>
        </p:spPr>
        <p:txBody>
          <a:bodyPr wrap="square" lIns="0" tIns="0" rIns="0" bIns="0" rtlCol="0" anchor="ctr"/>
          <a:lstStyle/>
          <a:p>
            <a:pPr marL="0" indent="0" algn="l">
              <a:buNone/>
            </a:pPr>
            <a:r>
              <a:rPr lang="en-US" sz="2700" b="1" dirty="0">
                <a:solidFill>
                  <a:srgbClr val="2A2520"/>
                </a:solidFill>
                <a:latin typeface="Georgia" pitchFamily="34" charset="0"/>
                <a:ea typeface="Georgia" pitchFamily="34" charset="-122"/>
                <a:cs typeface="Georgia" pitchFamily="34" charset="-120"/>
              </a:rPr>
              <a:t>The cost of disconnection</a:t>
            </a:r>
            <a:endParaRPr lang="en-US" sz="2700" dirty="0"/>
          </a:p>
        </p:txBody>
      </p:sp>
      <p:sp>
        <p:nvSpPr>
          <p:cNvPr id="8" name="Text 6"/>
          <p:cNvSpPr/>
          <p:nvPr/>
        </p:nvSpPr>
        <p:spPr>
          <a:xfrm>
            <a:off x="548640" y="1828800"/>
            <a:ext cx="4572000" cy="1828800"/>
          </a:xfrm>
          <a:prstGeom prst="rect">
            <a:avLst/>
          </a:prstGeom>
          <a:noFill/>
          <a:ln/>
        </p:spPr>
        <p:txBody>
          <a:bodyPr wrap="square" lIns="0" tIns="0" rIns="0" bIns="0" rtlCol="0" anchor="t"/>
          <a:lstStyle/>
          <a:p>
            <a:pPr marL="0" indent="0" algn="l">
              <a:lnSpc>
                <a:spcPct val="105000"/>
              </a:lnSpc>
              <a:spcAft>
                <a:spcPts val="800"/>
              </a:spcAft>
              <a:buNone/>
            </a:pPr>
            <a:r>
              <a:rPr lang="en-US" sz="1250" dirty="0">
                <a:solidFill>
                  <a:srgbClr val="4A423A"/>
                </a:solidFill>
                <a:latin typeface="Calibri" pitchFamily="34" charset="0"/>
                <a:ea typeface="Calibri" pitchFamily="34" charset="-122"/>
                <a:cs typeface="Calibri" pitchFamily="34" charset="-120"/>
              </a:rPr>
              <a:t>A bold strategy is signed off, then never quite reaches the teams doing the work. Governance shows up late, treated as a gate to clear rather than a guide. Delivery stays busy and on schedule while quietly losing sight of the outcome.</a:t>
            </a:r>
            <a:endParaRPr lang="en-US" sz="1250" dirty="0"/>
          </a:p>
          <a:p>
            <a:pPr marL="0" indent="0" algn="l">
              <a:lnSpc>
                <a:spcPct val="105000"/>
              </a:lnSpc>
              <a:buNone/>
            </a:pPr>
            <a:r>
              <a:rPr lang="en-US" sz="1250" dirty="0">
                <a:solidFill>
                  <a:srgbClr val="4A423A"/>
                </a:solidFill>
                <a:latin typeface="Calibri" pitchFamily="34" charset="0"/>
                <a:ea typeface="Calibri" pitchFamily="34" charset="-122"/>
                <a:cs typeface="Calibri" pitchFamily="34" charset="-120"/>
              </a:rPr>
              <a:t>On its own, none of this looks like a crisis. Together, it drains value — projects overrun, growth stalls, and investments underdeliver because funding, accountability and outcome were never linked up front.</a:t>
            </a:r>
            <a:r>
              <a:rPr lang="en-US" sz="800" b="1" baseline="30000" dirty="0">
                <a:solidFill>
                  <a:srgbClr val="B0533F"/>
                </a:solidFill>
                <a:latin typeface="Calibri" pitchFamily="34" charset="0"/>
                <a:ea typeface="Calibri" pitchFamily="34" charset="-122"/>
                <a:cs typeface="Calibri" pitchFamily="34" charset="-120"/>
              </a:rPr>
              <a:t> 1,2</a:t>
            </a:r>
            <a:endParaRPr lang="en-US" sz="1250" dirty="0"/>
          </a:p>
        </p:txBody>
      </p:sp>
      <p:sp>
        <p:nvSpPr>
          <p:cNvPr id="9" name="Shape 7"/>
          <p:cNvSpPr/>
          <p:nvPr/>
        </p:nvSpPr>
        <p:spPr>
          <a:xfrm>
            <a:off x="548640" y="3767328"/>
            <a:ext cx="4572000" cy="914400"/>
          </a:xfrm>
          <a:prstGeom prst="rect">
            <a:avLst/>
          </a:prstGeom>
          <a:solidFill>
            <a:srgbClr val="EFE6D6"/>
          </a:solidFill>
          <a:ln/>
        </p:spPr>
        <p:txBody>
          <a:bodyPr/>
          <a:lstStyle/>
          <a:p>
            <a:endParaRPr lang="en-AU"/>
          </a:p>
        </p:txBody>
      </p:sp>
      <p:sp>
        <p:nvSpPr>
          <p:cNvPr id="10" name="Shape 8"/>
          <p:cNvSpPr/>
          <p:nvPr/>
        </p:nvSpPr>
        <p:spPr>
          <a:xfrm>
            <a:off x="548640" y="3767328"/>
            <a:ext cx="54864" cy="914400"/>
          </a:xfrm>
          <a:prstGeom prst="rect">
            <a:avLst/>
          </a:prstGeom>
          <a:solidFill>
            <a:srgbClr val="B0533F"/>
          </a:solidFill>
          <a:ln/>
        </p:spPr>
        <p:txBody>
          <a:bodyPr/>
          <a:lstStyle/>
          <a:p>
            <a:endParaRPr lang="en-AU"/>
          </a:p>
        </p:txBody>
      </p:sp>
      <p:sp>
        <p:nvSpPr>
          <p:cNvPr id="11" name="Text 9"/>
          <p:cNvSpPr/>
          <p:nvPr/>
        </p:nvSpPr>
        <p:spPr>
          <a:xfrm>
            <a:off x="749808" y="3767328"/>
            <a:ext cx="4279392" cy="914400"/>
          </a:xfrm>
          <a:prstGeom prst="rect">
            <a:avLst/>
          </a:prstGeom>
          <a:noFill/>
          <a:ln/>
        </p:spPr>
        <p:txBody>
          <a:bodyPr wrap="square" lIns="0" tIns="0" rIns="0" bIns="0" rtlCol="0" anchor="ctr"/>
          <a:lstStyle/>
          <a:p>
            <a:pPr marL="0" indent="0" algn="l">
              <a:lnSpc>
                <a:spcPct val="105000"/>
              </a:lnSpc>
              <a:buNone/>
            </a:pPr>
            <a:r>
              <a:rPr lang="en-US" sz="1150" i="1" dirty="0">
                <a:solidFill>
                  <a:srgbClr val="2A2520"/>
                </a:solidFill>
                <a:latin typeface="Georgia" pitchFamily="34" charset="0"/>
                <a:ea typeface="Georgia" pitchFamily="34" charset="-122"/>
                <a:cs typeface="Georgia" pitchFamily="34" charset="-120"/>
              </a:rPr>
              <a:t>The problem is rarely a lack of talent. It lives in the space between intent, assurance and execution — exactly where value quietly leaks away.</a:t>
            </a:r>
            <a:endParaRPr lang="en-US" sz="1150" dirty="0"/>
          </a:p>
        </p:txBody>
      </p:sp>
      <p:sp>
        <p:nvSpPr>
          <p:cNvPr id="12" name="Text 10"/>
          <p:cNvSpPr/>
          <p:nvPr/>
        </p:nvSpPr>
        <p:spPr>
          <a:xfrm>
            <a:off x="548640" y="4882896"/>
            <a:ext cx="7589520" cy="201168"/>
          </a:xfrm>
          <a:prstGeom prst="rect">
            <a:avLst/>
          </a:prstGeom>
          <a:noFill/>
          <a:ln/>
        </p:spPr>
        <p:txBody>
          <a:bodyPr wrap="square" lIns="0" tIns="0" rIns="0" bIns="0" rtlCol="0" anchor="ctr"/>
          <a:lstStyle/>
          <a:p>
            <a:pPr marL="0" indent="0" algn="l">
              <a:buNone/>
            </a:pPr>
            <a:r>
              <a:rPr lang="en-US" sz="750" b="1" dirty="0">
                <a:solidFill>
                  <a:srgbClr val="B0533F"/>
                </a:solidFill>
                <a:latin typeface="Calibri" pitchFamily="34" charset="0"/>
                <a:ea typeface="Calibri" pitchFamily="34" charset="-122"/>
                <a:cs typeface="Calibri" pitchFamily="34" charset="-120"/>
              </a:rPr>
              <a:t>1  </a:t>
            </a:r>
            <a:r>
              <a:rPr lang="en-US" sz="750" dirty="0">
                <a:solidFill>
                  <a:srgbClr val="9A8E7C"/>
                </a:solidFill>
                <a:latin typeface="Calibri" pitchFamily="34" charset="0"/>
                <a:ea typeface="Calibri" pitchFamily="34" charset="-122"/>
                <a:cs typeface="Calibri" pitchFamily="34" charset="-120"/>
              </a:rPr>
              <a:t>PMI, Pulse of the Profession (2018).     </a:t>
            </a:r>
            <a:r>
              <a:rPr lang="en-US" sz="750" b="1" dirty="0">
                <a:solidFill>
                  <a:srgbClr val="B0533F"/>
                </a:solidFill>
                <a:latin typeface="Calibri" pitchFamily="34" charset="0"/>
                <a:ea typeface="Calibri" pitchFamily="34" charset="-122"/>
                <a:cs typeface="Calibri" pitchFamily="34" charset="-120"/>
              </a:rPr>
              <a:t>2  </a:t>
            </a:r>
            <a:r>
              <a:rPr lang="en-US" sz="750" dirty="0">
                <a:solidFill>
                  <a:srgbClr val="9A8E7C"/>
                </a:solidFill>
                <a:latin typeface="Calibri" pitchFamily="34" charset="0"/>
                <a:ea typeface="Calibri" pitchFamily="34" charset="-122"/>
                <a:cs typeface="Calibri" pitchFamily="34" charset="-120"/>
              </a:rPr>
              <a:t>Flyvbjerg, The Iron Law of Megaprojects (2017).</a:t>
            </a:r>
            <a:endParaRPr lang="en-US" sz="750" dirty="0"/>
          </a:p>
        </p:txBody>
      </p:sp>
      <p:sp>
        <p:nvSpPr>
          <p:cNvPr id="13" name="Shape 11"/>
          <p:cNvSpPr/>
          <p:nvPr/>
        </p:nvSpPr>
        <p:spPr>
          <a:xfrm>
            <a:off x="5440680" y="1828800"/>
            <a:ext cx="3154680" cy="841248"/>
          </a:xfrm>
          <a:prstGeom prst="rect">
            <a:avLst/>
          </a:prstGeom>
          <a:solidFill>
            <a:srgbClr val="FFFFFF"/>
          </a:solidFill>
          <a:ln w="12700">
            <a:solidFill>
              <a:srgbClr val="E4DACA"/>
            </a:solidFill>
            <a:prstDash val="solid"/>
          </a:ln>
          <a:effectLst>
            <a:outerShdw blurRad="88900" dist="38100" dir="5400000" algn="bl" rotWithShape="0">
              <a:srgbClr val="6B5E4A">
                <a:alpha val="18000"/>
              </a:srgbClr>
            </a:outerShdw>
          </a:effectLst>
        </p:spPr>
        <p:txBody>
          <a:bodyPr/>
          <a:lstStyle/>
          <a:p>
            <a:endParaRPr lang="en-AU"/>
          </a:p>
        </p:txBody>
      </p:sp>
      <p:sp>
        <p:nvSpPr>
          <p:cNvPr id="14" name="Shape 12"/>
          <p:cNvSpPr/>
          <p:nvPr/>
        </p:nvSpPr>
        <p:spPr>
          <a:xfrm>
            <a:off x="5440680" y="1828800"/>
            <a:ext cx="54864" cy="841248"/>
          </a:xfrm>
          <a:prstGeom prst="rect">
            <a:avLst/>
          </a:prstGeom>
          <a:solidFill>
            <a:srgbClr val="7C8A6B"/>
          </a:solidFill>
          <a:ln/>
        </p:spPr>
        <p:txBody>
          <a:bodyPr/>
          <a:lstStyle/>
          <a:p>
            <a:endParaRPr lang="en-AU"/>
          </a:p>
        </p:txBody>
      </p:sp>
      <p:sp>
        <p:nvSpPr>
          <p:cNvPr id="15" name="Text 13"/>
          <p:cNvSpPr/>
          <p:nvPr/>
        </p:nvSpPr>
        <p:spPr>
          <a:xfrm>
            <a:off x="5641848" y="1828800"/>
            <a:ext cx="2788920" cy="841248"/>
          </a:xfrm>
          <a:prstGeom prst="rect">
            <a:avLst/>
          </a:prstGeom>
          <a:noFill/>
          <a:ln/>
        </p:spPr>
        <p:txBody>
          <a:bodyPr wrap="square" lIns="0" tIns="0" rIns="0" bIns="0" rtlCol="0" anchor="ctr"/>
          <a:lstStyle/>
          <a:p>
            <a:pPr marL="0" indent="0" algn="l">
              <a:lnSpc>
                <a:spcPct val="103000"/>
              </a:lnSpc>
              <a:buNone/>
            </a:pPr>
            <a:r>
              <a:rPr lang="en-US" sz="1150" b="1" dirty="0">
                <a:solidFill>
                  <a:srgbClr val="7C8A6B"/>
                </a:solidFill>
                <a:latin typeface="Calibri" pitchFamily="34" charset="0"/>
                <a:ea typeface="Calibri" pitchFamily="34" charset="-122"/>
                <a:cs typeface="Calibri" pitchFamily="34" charset="-120"/>
              </a:rPr>
              <a:t>Strategy </a:t>
            </a:r>
            <a:r>
              <a:rPr lang="en-US" sz="1150" dirty="0">
                <a:solidFill>
                  <a:srgbClr val="4A423A"/>
                </a:solidFill>
                <a:latin typeface="Calibri" pitchFamily="34" charset="0"/>
                <a:ea typeface="Calibri" pitchFamily="34" charset="-122"/>
                <a:cs typeface="Calibri" pitchFamily="34" charset="-120"/>
              </a:rPr>
              <a:t>that never reaches the work is just aspiration.</a:t>
            </a:r>
            <a:endParaRPr lang="en-US" sz="1150" dirty="0"/>
          </a:p>
        </p:txBody>
      </p:sp>
      <p:sp>
        <p:nvSpPr>
          <p:cNvPr id="16" name="Shape 14"/>
          <p:cNvSpPr/>
          <p:nvPr/>
        </p:nvSpPr>
        <p:spPr>
          <a:xfrm>
            <a:off x="5440680" y="2798064"/>
            <a:ext cx="3154680" cy="841248"/>
          </a:xfrm>
          <a:prstGeom prst="rect">
            <a:avLst/>
          </a:prstGeom>
          <a:solidFill>
            <a:srgbClr val="FFFFFF"/>
          </a:solidFill>
          <a:ln w="12700">
            <a:solidFill>
              <a:srgbClr val="E4DACA"/>
            </a:solidFill>
            <a:prstDash val="solid"/>
          </a:ln>
          <a:effectLst>
            <a:outerShdw blurRad="88900" dist="38100" dir="5400000" algn="bl" rotWithShape="0">
              <a:srgbClr val="6B5E4A">
                <a:alpha val="18000"/>
              </a:srgbClr>
            </a:outerShdw>
          </a:effectLst>
        </p:spPr>
        <p:txBody>
          <a:bodyPr/>
          <a:lstStyle/>
          <a:p>
            <a:endParaRPr lang="en-AU"/>
          </a:p>
        </p:txBody>
      </p:sp>
      <p:sp>
        <p:nvSpPr>
          <p:cNvPr id="17" name="Shape 15"/>
          <p:cNvSpPr/>
          <p:nvPr/>
        </p:nvSpPr>
        <p:spPr>
          <a:xfrm>
            <a:off x="5440680" y="2798064"/>
            <a:ext cx="54864" cy="841248"/>
          </a:xfrm>
          <a:prstGeom prst="rect">
            <a:avLst/>
          </a:prstGeom>
          <a:solidFill>
            <a:srgbClr val="B07B33"/>
          </a:solidFill>
          <a:ln/>
        </p:spPr>
        <p:txBody>
          <a:bodyPr/>
          <a:lstStyle/>
          <a:p>
            <a:endParaRPr lang="en-AU"/>
          </a:p>
        </p:txBody>
      </p:sp>
      <p:sp>
        <p:nvSpPr>
          <p:cNvPr id="18" name="Text 16"/>
          <p:cNvSpPr/>
          <p:nvPr/>
        </p:nvSpPr>
        <p:spPr>
          <a:xfrm>
            <a:off x="5641848" y="2798064"/>
            <a:ext cx="2788920" cy="841248"/>
          </a:xfrm>
          <a:prstGeom prst="rect">
            <a:avLst/>
          </a:prstGeom>
          <a:noFill/>
          <a:ln/>
        </p:spPr>
        <p:txBody>
          <a:bodyPr wrap="square" lIns="0" tIns="0" rIns="0" bIns="0" rtlCol="0" anchor="ctr"/>
          <a:lstStyle/>
          <a:p>
            <a:pPr marL="0" indent="0" algn="l">
              <a:lnSpc>
                <a:spcPct val="103000"/>
              </a:lnSpc>
              <a:buNone/>
            </a:pPr>
            <a:r>
              <a:rPr lang="en-US" sz="1150" b="1" dirty="0">
                <a:solidFill>
                  <a:srgbClr val="B07B33"/>
                </a:solidFill>
                <a:latin typeface="Calibri" pitchFamily="34" charset="0"/>
                <a:ea typeface="Calibri" pitchFamily="34" charset="-122"/>
                <a:cs typeface="Calibri" pitchFamily="34" charset="-120"/>
              </a:rPr>
              <a:t>Governance </a:t>
            </a:r>
            <a:r>
              <a:rPr lang="en-US" sz="1150" dirty="0">
                <a:solidFill>
                  <a:srgbClr val="4A423A"/>
                </a:solidFill>
                <a:latin typeface="Calibri" pitchFamily="34" charset="0"/>
                <a:ea typeface="Calibri" pitchFamily="34" charset="-122"/>
                <a:cs typeface="Calibri" pitchFamily="34" charset="-120"/>
              </a:rPr>
              <a:t>bolted on after the decision is just friction.</a:t>
            </a:r>
            <a:endParaRPr lang="en-US" sz="1150" dirty="0"/>
          </a:p>
        </p:txBody>
      </p:sp>
      <p:sp>
        <p:nvSpPr>
          <p:cNvPr id="19" name="Shape 17"/>
          <p:cNvSpPr/>
          <p:nvPr/>
        </p:nvSpPr>
        <p:spPr>
          <a:xfrm>
            <a:off x="5440680" y="3767328"/>
            <a:ext cx="3154680" cy="841248"/>
          </a:xfrm>
          <a:prstGeom prst="rect">
            <a:avLst/>
          </a:prstGeom>
          <a:solidFill>
            <a:srgbClr val="FFFFFF"/>
          </a:solidFill>
          <a:ln w="12700">
            <a:solidFill>
              <a:srgbClr val="E4DACA"/>
            </a:solidFill>
            <a:prstDash val="solid"/>
          </a:ln>
          <a:effectLst>
            <a:outerShdw blurRad="88900" dist="38100" dir="5400000" algn="bl" rotWithShape="0">
              <a:srgbClr val="6B5E4A">
                <a:alpha val="18000"/>
              </a:srgbClr>
            </a:outerShdw>
          </a:effectLst>
        </p:spPr>
        <p:txBody>
          <a:bodyPr/>
          <a:lstStyle/>
          <a:p>
            <a:endParaRPr lang="en-AU"/>
          </a:p>
        </p:txBody>
      </p:sp>
      <p:sp>
        <p:nvSpPr>
          <p:cNvPr id="20" name="Shape 18"/>
          <p:cNvSpPr/>
          <p:nvPr/>
        </p:nvSpPr>
        <p:spPr>
          <a:xfrm>
            <a:off x="5440680" y="3767328"/>
            <a:ext cx="54864" cy="841248"/>
          </a:xfrm>
          <a:prstGeom prst="rect">
            <a:avLst/>
          </a:prstGeom>
          <a:solidFill>
            <a:srgbClr val="B0533F"/>
          </a:solidFill>
          <a:ln/>
        </p:spPr>
        <p:txBody>
          <a:bodyPr/>
          <a:lstStyle/>
          <a:p>
            <a:endParaRPr lang="en-AU"/>
          </a:p>
        </p:txBody>
      </p:sp>
      <p:sp>
        <p:nvSpPr>
          <p:cNvPr id="21" name="Text 19"/>
          <p:cNvSpPr/>
          <p:nvPr/>
        </p:nvSpPr>
        <p:spPr>
          <a:xfrm>
            <a:off x="5641848" y="3767328"/>
            <a:ext cx="2788920" cy="841248"/>
          </a:xfrm>
          <a:prstGeom prst="rect">
            <a:avLst/>
          </a:prstGeom>
          <a:noFill/>
          <a:ln/>
        </p:spPr>
        <p:txBody>
          <a:bodyPr wrap="square" lIns="0" tIns="0" rIns="0" bIns="0" rtlCol="0" anchor="ctr"/>
          <a:lstStyle/>
          <a:p>
            <a:pPr marL="0" indent="0" algn="l">
              <a:lnSpc>
                <a:spcPct val="103000"/>
              </a:lnSpc>
              <a:buNone/>
            </a:pPr>
            <a:r>
              <a:rPr lang="en-US" sz="1150" b="1" dirty="0">
                <a:solidFill>
                  <a:srgbClr val="B0533F"/>
                </a:solidFill>
                <a:latin typeface="Calibri" pitchFamily="34" charset="0"/>
                <a:ea typeface="Calibri" pitchFamily="34" charset="-122"/>
                <a:cs typeface="Calibri" pitchFamily="34" charset="-120"/>
              </a:rPr>
              <a:t>Delivery </a:t>
            </a:r>
            <a:r>
              <a:rPr lang="en-US" sz="1150" dirty="0">
                <a:solidFill>
                  <a:srgbClr val="4A423A"/>
                </a:solidFill>
                <a:latin typeface="Calibri" pitchFamily="34" charset="0"/>
                <a:ea typeface="Calibri" pitchFamily="34" charset="-122"/>
                <a:cs typeface="Calibri" pitchFamily="34" charset="-120"/>
              </a:rPr>
              <a:t>measured only by activity is motion without progress.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3EA"/>
        </a:solidFill>
        <a:effectLst/>
      </p:bgPr>
    </p:bg>
    <p:spTree>
      <p:nvGrpSpPr>
        <p:cNvPr id="1" name=""/>
        <p:cNvGrpSpPr/>
        <p:nvPr/>
      </p:nvGrpSpPr>
      <p:grpSpPr>
        <a:xfrm>
          <a:off x="0" y="0"/>
          <a:ext cx="0" cy="0"/>
          <a:chOff x="0" y="0"/>
          <a:chExt cx="0" cy="0"/>
        </a:xfrm>
      </p:grpSpPr>
      <p:sp>
        <p:nvSpPr>
          <p:cNvPr id="2" name="Text 0"/>
          <p:cNvSpPr/>
          <p:nvPr/>
        </p:nvSpPr>
        <p:spPr>
          <a:xfrm>
            <a:off x="548640" y="292608"/>
            <a:ext cx="5669280" cy="274320"/>
          </a:xfrm>
          <a:prstGeom prst="rect">
            <a:avLst/>
          </a:prstGeom>
          <a:noFill/>
          <a:ln/>
        </p:spPr>
        <p:txBody>
          <a:bodyPr wrap="square" lIns="0" tIns="0" rIns="0" bIns="0" rtlCol="0" anchor="ctr"/>
          <a:lstStyle/>
          <a:p>
            <a:pPr marL="0" indent="0" algn="l">
              <a:buNone/>
            </a:pPr>
            <a:r>
              <a:rPr lang="en-US" sz="850" b="1" kern="0" spc="150" dirty="0">
                <a:solidFill>
                  <a:srgbClr val="7C8A6B"/>
                </a:solidFill>
                <a:latin typeface="Calibri" pitchFamily="34" charset="0"/>
                <a:ea typeface="Calibri" pitchFamily="34" charset="-122"/>
                <a:cs typeface="Calibri" pitchFamily="34" charset="-120"/>
              </a:rPr>
              <a:t>BRIDGING STRATEGY, GOVERNANCE &amp; DELIVERY</a:t>
            </a:r>
            <a:endParaRPr lang="en-US" sz="850" dirty="0"/>
          </a:p>
        </p:txBody>
      </p:sp>
      <p:sp>
        <p:nvSpPr>
          <p:cNvPr id="3" name="Text 1"/>
          <p:cNvSpPr/>
          <p:nvPr/>
        </p:nvSpPr>
        <p:spPr>
          <a:xfrm>
            <a:off x="6126480" y="292608"/>
            <a:ext cx="2468880" cy="274320"/>
          </a:xfrm>
          <a:prstGeom prst="rect">
            <a:avLst/>
          </a:prstGeom>
          <a:noFill/>
          <a:ln/>
        </p:spPr>
        <p:txBody>
          <a:bodyPr wrap="square" lIns="0" tIns="0" rIns="0" bIns="0" rtlCol="0" anchor="ctr"/>
          <a:lstStyle/>
          <a:p>
            <a:pPr marL="0" indent="0" algn="r">
              <a:buNone/>
            </a:pPr>
            <a:r>
              <a:rPr lang="en-US" sz="850" b="1" kern="0" spc="150" dirty="0">
                <a:solidFill>
                  <a:srgbClr val="B07B33"/>
                </a:solidFill>
                <a:latin typeface="Calibri" pitchFamily="34" charset="0"/>
                <a:ea typeface="Calibri" pitchFamily="34" charset="-122"/>
                <a:cs typeface="Calibri" pitchFamily="34" charset="-120"/>
              </a:rPr>
              <a:t>ESSGEE PROJECTS</a:t>
            </a:r>
            <a:endParaRPr lang="en-US" sz="850" dirty="0"/>
          </a:p>
        </p:txBody>
      </p:sp>
      <p:sp>
        <p:nvSpPr>
          <p:cNvPr id="4" name="Text 2"/>
          <p:cNvSpPr/>
          <p:nvPr/>
        </p:nvSpPr>
        <p:spPr>
          <a:xfrm>
            <a:off x="8229600" y="4718304"/>
            <a:ext cx="457200" cy="274320"/>
          </a:xfrm>
          <a:prstGeom prst="rect">
            <a:avLst/>
          </a:prstGeom>
          <a:noFill/>
          <a:ln/>
        </p:spPr>
        <p:txBody>
          <a:bodyPr wrap="square" lIns="0" tIns="0" rIns="0" bIns="0" rtlCol="0" anchor="ctr"/>
          <a:lstStyle/>
          <a:p>
            <a:pPr marL="0" indent="0" algn="r">
              <a:buNone/>
            </a:pPr>
            <a:r>
              <a:rPr lang="en-US" sz="900" dirty="0">
                <a:solidFill>
                  <a:srgbClr val="9A8E7C"/>
                </a:solidFill>
                <a:latin typeface="Calibri" pitchFamily="34" charset="0"/>
                <a:ea typeface="Calibri" pitchFamily="34" charset="-122"/>
                <a:cs typeface="Calibri" pitchFamily="34" charset="-120"/>
              </a:rPr>
              <a:t>4</a:t>
            </a:r>
            <a:endParaRPr lang="en-US" sz="900" dirty="0"/>
          </a:p>
        </p:txBody>
      </p:sp>
      <p:sp>
        <p:nvSpPr>
          <p:cNvPr id="5" name="Shape 3"/>
          <p:cNvSpPr/>
          <p:nvPr/>
        </p:nvSpPr>
        <p:spPr>
          <a:xfrm>
            <a:off x="548640" y="603504"/>
            <a:ext cx="8046720" cy="10973"/>
          </a:xfrm>
          <a:prstGeom prst="rect">
            <a:avLst/>
          </a:prstGeom>
          <a:solidFill>
            <a:srgbClr val="E4DACA"/>
          </a:solidFill>
          <a:ln/>
        </p:spPr>
        <p:txBody>
          <a:bodyPr/>
          <a:lstStyle/>
          <a:p>
            <a:endParaRPr lang="en-AU"/>
          </a:p>
        </p:txBody>
      </p:sp>
      <p:sp>
        <p:nvSpPr>
          <p:cNvPr id="6" name="Text 4"/>
          <p:cNvSpPr/>
          <p:nvPr/>
        </p:nvSpPr>
        <p:spPr>
          <a:xfrm>
            <a:off x="548640" y="786384"/>
            <a:ext cx="8046720" cy="274320"/>
          </a:xfrm>
          <a:prstGeom prst="rect">
            <a:avLst/>
          </a:prstGeom>
          <a:noFill/>
          <a:ln/>
        </p:spPr>
        <p:txBody>
          <a:bodyPr wrap="square" lIns="0" tIns="0" rIns="0" bIns="0" rtlCol="0" anchor="ctr"/>
          <a:lstStyle/>
          <a:p>
            <a:pPr marL="0" indent="0" algn="l">
              <a:buNone/>
            </a:pPr>
            <a:r>
              <a:rPr lang="en-US" sz="1150" b="1" kern="0" spc="200" dirty="0">
                <a:solidFill>
                  <a:srgbClr val="B0533F"/>
                </a:solidFill>
                <a:latin typeface="Calibri" pitchFamily="34" charset="0"/>
                <a:ea typeface="Calibri" pitchFamily="34" charset="-122"/>
                <a:cs typeface="Calibri" pitchFamily="34" charset="-120"/>
              </a:rPr>
              <a:t>02  ·  THE DISCIPLINES</a:t>
            </a:r>
            <a:endParaRPr lang="en-US" sz="1150" dirty="0"/>
          </a:p>
        </p:txBody>
      </p:sp>
      <p:sp>
        <p:nvSpPr>
          <p:cNvPr id="7" name="Text 0"/>
          <p:cNvSpPr>
            <a:spLocks noGrp="1"/>
          </p:cNvSpPr>
          <p:nvPr>
            <p:ph type="title" idx="100" hasCustomPrompt="1"/>
          </p:nvPr>
        </p:nvSpPr>
        <p:spPr>
          <a:xfrm>
            <a:off x="548640" y="914400"/>
            <a:ext cx="8046720" cy="731520"/>
          </a:xfrm>
          <a:prstGeom prst="rect">
            <a:avLst/>
          </a:prstGeom>
          <a:noFill/>
          <a:ln/>
        </p:spPr>
        <p:txBody>
          <a:bodyPr wrap="square" lIns="0" tIns="0" rIns="0" bIns="0" rtlCol="0" anchor="ctr"/>
          <a:lstStyle/>
          <a:p>
            <a:pPr marL="0" indent="0" algn="l">
              <a:buNone/>
            </a:pPr>
            <a:r>
              <a:rPr lang="en-US" sz="2700" b="1" dirty="0">
                <a:solidFill>
                  <a:srgbClr val="2A2520"/>
                </a:solidFill>
                <a:latin typeface="Georgia" pitchFamily="34" charset="0"/>
                <a:ea typeface="Georgia" pitchFamily="34" charset="-122"/>
                <a:cs typeface="Georgia" pitchFamily="34" charset="-120"/>
              </a:rPr>
              <a:t>Three disciplines, one purpose</a:t>
            </a:r>
            <a:endParaRPr lang="en-US" sz="2700" dirty="0"/>
          </a:p>
        </p:txBody>
      </p:sp>
      <p:sp>
        <p:nvSpPr>
          <p:cNvPr id="8" name="Text 6"/>
          <p:cNvSpPr/>
          <p:nvPr/>
        </p:nvSpPr>
        <p:spPr>
          <a:xfrm>
            <a:off x="548640" y="1700784"/>
            <a:ext cx="8046720" cy="365760"/>
          </a:xfrm>
          <a:prstGeom prst="rect">
            <a:avLst/>
          </a:prstGeom>
          <a:noFill/>
          <a:ln/>
        </p:spPr>
        <p:txBody>
          <a:bodyPr wrap="square" lIns="0" tIns="0" rIns="0" bIns="0" rtlCol="0" anchor="ctr"/>
          <a:lstStyle/>
          <a:p>
            <a:pPr marL="0" indent="0" algn="l">
              <a:buNone/>
            </a:pPr>
            <a:r>
              <a:rPr lang="en-US" sz="1250" dirty="0">
                <a:solidFill>
                  <a:srgbClr val="4A423A"/>
                </a:solidFill>
                <a:latin typeface="Calibri" pitchFamily="34" charset="0"/>
                <a:ea typeface="Calibri" pitchFamily="34" charset="-122"/>
                <a:cs typeface="Calibri" pitchFamily="34" charset="-120"/>
              </a:rPr>
              <a:t>Before joining them up, it helps to be precise about what each one brings. Each is necessary; none is enough alone.</a:t>
            </a:r>
            <a:endParaRPr lang="en-US" sz="1250" dirty="0"/>
          </a:p>
        </p:txBody>
      </p:sp>
      <p:sp>
        <p:nvSpPr>
          <p:cNvPr id="9" name="Shape 7"/>
          <p:cNvSpPr/>
          <p:nvPr/>
        </p:nvSpPr>
        <p:spPr>
          <a:xfrm>
            <a:off x="548640" y="2194560"/>
            <a:ext cx="2651760" cy="1965960"/>
          </a:xfrm>
          <a:prstGeom prst="rect">
            <a:avLst/>
          </a:prstGeom>
          <a:solidFill>
            <a:srgbClr val="FFFFFF"/>
          </a:solidFill>
          <a:ln w="12700">
            <a:solidFill>
              <a:srgbClr val="E4DACA"/>
            </a:solidFill>
            <a:prstDash val="solid"/>
          </a:ln>
          <a:effectLst>
            <a:outerShdw blurRad="88900" dist="38100" dir="5400000" algn="bl" rotWithShape="0">
              <a:srgbClr val="6B5E4A">
                <a:alpha val="18000"/>
              </a:srgbClr>
            </a:outerShdw>
          </a:effectLst>
        </p:spPr>
        <p:txBody>
          <a:bodyPr/>
          <a:lstStyle/>
          <a:p>
            <a:endParaRPr lang="en-AU"/>
          </a:p>
        </p:txBody>
      </p:sp>
      <p:sp>
        <p:nvSpPr>
          <p:cNvPr id="10" name="Shape 8"/>
          <p:cNvSpPr/>
          <p:nvPr/>
        </p:nvSpPr>
        <p:spPr>
          <a:xfrm>
            <a:off x="548640" y="2194560"/>
            <a:ext cx="2651760" cy="82296"/>
          </a:xfrm>
          <a:prstGeom prst="rect">
            <a:avLst/>
          </a:prstGeom>
          <a:solidFill>
            <a:srgbClr val="7C8A6B"/>
          </a:solidFill>
          <a:ln/>
        </p:spPr>
        <p:txBody>
          <a:bodyPr/>
          <a:lstStyle/>
          <a:p>
            <a:endParaRPr lang="en-AU"/>
          </a:p>
        </p:txBody>
      </p:sp>
      <p:sp>
        <p:nvSpPr>
          <p:cNvPr id="11" name="Text 9"/>
          <p:cNvSpPr/>
          <p:nvPr/>
        </p:nvSpPr>
        <p:spPr>
          <a:xfrm>
            <a:off x="749808" y="2395728"/>
            <a:ext cx="1097280" cy="502920"/>
          </a:xfrm>
          <a:prstGeom prst="rect">
            <a:avLst/>
          </a:prstGeom>
          <a:noFill/>
          <a:ln/>
        </p:spPr>
        <p:txBody>
          <a:bodyPr wrap="square" lIns="0" tIns="0" rIns="0" bIns="0" rtlCol="0" anchor="ctr"/>
          <a:lstStyle/>
          <a:p>
            <a:pPr marL="0" indent="0">
              <a:buNone/>
            </a:pPr>
            <a:r>
              <a:rPr lang="en-US" sz="3000" b="1" dirty="0">
                <a:solidFill>
                  <a:srgbClr val="7C8A6B"/>
                </a:solidFill>
                <a:latin typeface="Georgia" pitchFamily="34" charset="0"/>
                <a:ea typeface="Georgia" pitchFamily="34" charset="-122"/>
                <a:cs typeface="Georgia" pitchFamily="34" charset="-120"/>
              </a:rPr>
              <a:t>01</a:t>
            </a:r>
            <a:endParaRPr lang="en-US" sz="3000" dirty="0"/>
          </a:p>
        </p:txBody>
      </p:sp>
      <p:sp>
        <p:nvSpPr>
          <p:cNvPr id="12" name="Text 10"/>
          <p:cNvSpPr/>
          <p:nvPr/>
        </p:nvSpPr>
        <p:spPr>
          <a:xfrm>
            <a:off x="749808" y="2944368"/>
            <a:ext cx="2249424" cy="320040"/>
          </a:xfrm>
          <a:prstGeom prst="rect">
            <a:avLst/>
          </a:prstGeom>
          <a:noFill/>
          <a:ln/>
        </p:spPr>
        <p:txBody>
          <a:bodyPr wrap="square" lIns="0" tIns="0" rIns="0" bIns="0" rtlCol="0" anchor="ctr"/>
          <a:lstStyle/>
          <a:p>
            <a:pPr marL="0" indent="0">
              <a:buNone/>
            </a:pPr>
            <a:r>
              <a:rPr lang="en-US" sz="1600" b="1" dirty="0">
                <a:solidFill>
                  <a:srgbClr val="2A2520"/>
                </a:solidFill>
                <a:latin typeface="Georgia" pitchFamily="34" charset="0"/>
                <a:ea typeface="Georgia" pitchFamily="34" charset="-122"/>
                <a:cs typeface="Georgia" pitchFamily="34" charset="-120"/>
              </a:rPr>
              <a:t>Strategy</a:t>
            </a:r>
            <a:endParaRPr lang="en-US" sz="1600" dirty="0"/>
          </a:p>
        </p:txBody>
      </p:sp>
      <p:sp>
        <p:nvSpPr>
          <p:cNvPr id="13" name="Text 11"/>
          <p:cNvSpPr/>
          <p:nvPr/>
        </p:nvSpPr>
        <p:spPr>
          <a:xfrm>
            <a:off x="749808" y="3246120"/>
            <a:ext cx="2249424" cy="256032"/>
          </a:xfrm>
          <a:prstGeom prst="rect">
            <a:avLst/>
          </a:prstGeom>
          <a:noFill/>
          <a:ln/>
        </p:spPr>
        <p:txBody>
          <a:bodyPr wrap="square" lIns="0" tIns="0" rIns="0" bIns="0" rtlCol="0" anchor="ctr"/>
          <a:lstStyle/>
          <a:p>
            <a:pPr marL="0" indent="0">
              <a:buNone/>
            </a:pPr>
            <a:r>
              <a:rPr lang="en-US" sz="1100" i="1" dirty="0">
                <a:solidFill>
                  <a:srgbClr val="7C8A6B"/>
                </a:solidFill>
                <a:latin typeface="Calibri" pitchFamily="34" charset="0"/>
                <a:ea typeface="Calibri" pitchFamily="34" charset="-122"/>
                <a:cs typeface="Calibri" pitchFamily="34" charset="-120"/>
              </a:rPr>
              <a:t>Why and where</a:t>
            </a:r>
            <a:endParaRPr lang="en-US" sz="1100" dirty="0"/>
          </a:p>
        </p:txBody>
      </p:sp>
      <p:sp>
        <p:nvSpPr>
          <p:cNvPr id="14" name="Text 12"/>
          <p:cNvSpPr/>
          <p:nvPr/>
        </p:nvSpPr>
        <p:spPr>
          <a:xfrm>
            <a:off x="749808" y="3511296"/>
            <a:ext cx="2249424" cy="566928"/>
          </a:xfrm>
          <a:prstGeom prst="rect">
            <a:avLst/>
          </a:prstGeom>
          <a:noFill/>
          <a:ln/>
        </p:spPr>
        <p:txBody>
          <a:bodyPr wrap="square" lIns="0" tIns="0" rIns="0" bIns="0" rtlCol="0" anchor="t"/>
          <a:lstStyle/>
          <a:p>
            <a:pPr marL="0" indent="0" algn="l">
              <a:lnSpc>
                <a:spcPct val="102000"/>
              </a:lnSpc>
              <a:buNone/>
            </a:pPr>
            <a:r>
              <a:rPr lang="en-US" sz="1050" dirty="0">
                <a:solidFill>
                  <a:srgbClr val="4A423A"/>
                </a:solidFill>
                <a:latin typeface="Calibri" pitchFamily="34" charset="0"/>
                <a:ea typeface="Calibri" pitchFamily="34" charset="-122"/>
                <a:cs typeface="Calibri" pitchFamily="34" charset="-120"/>
              </a:rPr>
              <a:t>Sets direction, the choices you'll make and the value you mean to create. Names the priorities — and what you won't do.</a:t>
            </a:r>
            <a:endParaRPr lang="en-US" sz="1050" dirty="0"/>
          </a:p>
        </p:txBody>
      </p:sp>
      <p:sp>
        <p:nvSpPr>
          <p:cNvPr id="15" name="Shape 13"/>
          <p:cNvSpPr/>
          <p:nvPr/>
        </p:nvSpPr>
        <p:spPr>
          <a:xfrm>
            <a:off x="3337560" y="2194560"/>
            <a:ext cx="2651760" cy="1965960"/>
          </a:xfrm>
          <a:prstGeom prst="rect">
            <a:avLst/>
          </a:prstGeom>
          <a:solidFill>
            <a:srgbClr val="FFFFFF"/>
          </a:solidFill>
          <a:ln w="12700">
            <a:solidFill>
              <a:srgbClr val="E4DACA"/>
            </a:solidFill>
            <a:prstDash val="solid"/>
          </a:ln>
          <a:effectLst>
            <a:outerShdw blurRad="88900" dist="38100" dir="5400000" algn="bl" rotWithShape="0">
              <a:srgbClr val="6B5E4A">
                <a:alpha val="18000"/>
              </a:srgbClr>
            </a:outerShdw>
          </a:effectLst>
        </p:spPr>
        <p:txBody>
          <a:bodyPr/>
          <a:lstStyle/>
          <a:p>
            <a:endParaRPr lang="en-AU"/>
          </a:p>
        </p:txBody>
      </p:sp>
      <p:sp>
        <p:nvSpPr>
          <p:cNvPr id="16" name="Shape 14"/>
          <p:cNvSpPr/>
          <p:nvPr/>
        </p:nvSpPr>
        <p:spPr>
          <a:xfrm>
            <a:off x="3337560" y="2194560"/>
            <a:ext cx="2651760" cy="82296"/>
          </a:xfrm>
          <a:prstGeom prst="rect">
            <a:avLst/>
          </a:prstGeom>
          <a:solidFill>
            <a:srgbClr val="B07B33"/>
          </a:solidFill>
          <a:ln/>
        </p:spPr>
        <p:txBody>
          <a:bodyPr/>
          <a:lstStyle/>
          <a:p>
            <a:endParaRPr lang="en-AU"/>
          </a:p>
        </p:txBody>
      </p:sp>
      <p:sp>
        <p:nvSpPr>
          <p:cNvPr id="17" name="Text 15"/>
          <p:cNvSpPr/>
          <p:nvPr/>
        </p:nvSpPr>
        <p:spPr>
          <a:xfrm>
            <a:off x="3538728" y="2395728"/>
            <a:ext cx="1097280" cy="502920"/>
          </a:xfrm>
          <a:prstGeom prst="rect">
            <a:avLst/>
          </a:prstGeom>
          <a:noFill/>
          <a:ln/>
        </p:spPr>
        <p:txBody>
          <a:bodyPr wrap="square" lIns="0" tIns="0" rIns="0" bIns="0" rtlCol="0" anchor="ctr"/>
          <a:lstStyle/>
          <a:p>
            <a:pPr marL="0" indent="0">
              <a:buNone/>
            </a:pPr>
            <a:r>
              <a:rPr lang="en-US" sz="3000" b="1" dirty="0">
                <a:solidFill>
                  <a:srgbClr val="B07B33"/>
                </a:solidFill>
                <a:latin typeface="Georgia" pitchFamily="34" charset="0"/>
                <a:ea typeface="Georgia" pitchFamily="34" charset="-122"/>
                <a:cs typeface="Georgia" pitchFamily="34" charset="-120"/>
              </a:rPr>
              <a:t>02</a:t>
            </a:r>
            <a:endParaRPr lang="en-US" sz="3000" dirty="0"/>
          </a:p>
        </p:txBody>
      </p:sp>
      <p:sp>
        <p:nvSpPr>
          <p:cNvPr id="18" name="Text 16"/>
          <p:cNvSpPr/>
          <p:nvPr/>
        </p:nvSpPr>
        <p:spPr>
          <a:xfrm>
            <a:off x="3538728" y="2944368"/>
            <a:ext cx="2249424" cy="320040"/>
          </a:xfrm>
          <a:prstGeom prst="rect">
            <a:avLst/>
          </a:prstGeom>
          <a:noFill/>
          <a:ln/>
        </p:spPr>
        <p:txBody>
          <a:bodyPr wrap="square" lIns="0" tIns="0" rIns="0" bIns="0" rtlCol="0" anchor="ctr"/>
          <a:lstStyle/>
          <a:p>
            <a:pPr marL="0" indent="0">
              <a:buNone/>
            </a:pPr>
            <a:r>
              <a:rPr lang="en-US" sz="1600" b="1" dirty="0">
                <a:solidFill>
                  <a:srgbClr val="2A2520"/>
                </a:solidFill>
                <a:latin typeface="Georgia" pitchFamily="34" charset="0"/>
                <a:ea typeface="Georgia" pitchFamily="34" charset="-122"/>
                <a:cs typeface="Georgia" pitchFamily="34" charset="-120"/>
              </a:rPr>
              <a:t>Governance</a:t>
            </a:r>
            <a:endParaRPr lang="en-US" sz="1600" dirty="0"/>
          </a:p>
        </p:txBody>
      </p:sp>
      <p:sp>
        <p:nvSpPr>
          <p:cNvPr id="19" name="Text 17"/>
          <p:cNvSpPr/>
          <p:nvPr/>
        </p:nvSpPr>
        <p:spPr>
          <a:xfrm>
            <a:off x="3538728" y="3246120"/>
            <a:ext cx="2249424" cy="256032"/>
          </a:xfrm>
          <a:prstGeom prst="rect">
            <a:avLst/>
          </a:prstGeom>
          <a:noFill/>
          <a:ln/>
        </p:spPr>
        <p:txBody>
          <a:bodyPr wrap="square" lIns="0" tIns="0" rIns="0" bIns="0" rtlCol="0" anchor="ctr"/>
          <a:lstStyle/>
          <a:p>
            <a:pPr marL="0" indent="0">
              <a:buNone/>
            </a:pPr>
            <a:r>
              <a:rPr lang="en-US" sz="1100" i="1" dirty="0">
                <a:solidFill>
                  <a:srgbClr val="B07B33"/>
                </a:solidFill>
                <a:latin typeface="Calibri" pitchFamily="34" charset="0"/>
                <a:ea typeface="Calibri" pitchFamily="34" charset="-122"/>
                <a:cs typeface="Calibri" pitchFamily="34" charset="-120"/>
              </a:rPr>
              <a:t>Within what limits</a:t>
            </a:r>
            <a:endParaRPr lang="en-US" sz="1100" dirty="0"/>
          </a:p>
        </p:txBody>
      </p:sp>
      <p:sp>
        <p:nvSpPr>
          <p:cNvPr id="20" name="Text 18"/>
          <p:cNvSpPr/>
          <p:nvPr/>
        </p:nvSpPr>
        <p:spPr>
          <a:xfrm>
            <a:off x="3538728" y="3511296"/>
            <a:ext cx="2249424" cy="566928"/>
          </a:xfrm>
          <a:prstGeom prst="rect">
            <a:avLst/>
          </a:prstGeom>
          <a:noFill/>
          <a:ln/>
        </p:spPr>
        <p:txBody>
          <a:bodyPr wrap="square" lIns="0" tIns="0" rIns="0" bIns="0" rtlCol="0" anchor="t"/>
          <a:lstStyle/>
          <a:p>
            <a:pPr marL="0" indent="0" algn="l">
              <a:lnSpc>
                <a:spcPct val="102000"/>
              </a:lnSpc>
              <a:buNone/>
            </a:pPr>
            <a:r>
              <a:rPr lang="en-US" sz="1050" dirty="0">
                <a:solidFill>
                  <a:srgbClr val="4A423A"/>
                </a:solidFill>
                <a:latin typeface="Calibri" pitchFamily="34" charset="0"/>
                <a:ea typeface="Calibri" pitchFamily="34" charset="-122"/>
                <a:cs typeface="Calibri" pitchFamily="34" charset="-120"/>
              </a:rPr>
              <a:t>Gives confidence that decisions are sound, risks understood and someone owns the outcome. Not a brake — what lets you take considered risks.</a:t>
            </a:r>
            <a:endParaRPr lang="en-US" sz="1050" dirty="0"/>
          </a:p>
        </p:txBody>
      </p:sp>
      <p:sp>
        <p:nvSpPr>
          <p:cNvPr id="21" name="Shape 19"/>
          <p:cNvSpPr/>
          <p:nvPr/>
        </p:nvSpPr>
        <p:spPr>
          <a:xfrm>
            <a:off x="6126480" y="2194560"/>
            <a:ext cx="2651760" cy="1965960"/>
          </a:xfrm>
          <a:prstGeom prst="rect">
            <a:avLst/>
          </a:prstGeom>
          <a:solidFill>
            <a:srgbClr val="FFFFFF"/>
          </a:solidFill>
          <a:ln w="12700">
            <a:solidFill>
              <a:srgbClr val="E4DACA"/>
            </a:solidFill>
            <a:prstDash val="solid"/>
          </a:ln>
          <a:effectLst>
            <a:outerShdw blurRad="88900" dist="38100" dir="5400000" algn="bl" rotWithShape="0">
              <a:srgbClr val="6B5E4A">
                <a:alpha val="18000"/>
              </a:srgbClr>
            </a:outerShdw>
          </a:effectLst>
        </p:spPr>
        <p:txBody>
          <a:bodyPr/>
          <a:lstStyle/>
          <a:p>
            <a:endParaRPr lang="en-AU"/>
          </a:p>
        </p:txBody>
      </p:sp>
      <p:sp>
        <p:nvSpPr>
          <p:cNvPr id="22" name="Shape 20"/>
          <p:cNvSpPr/>
          <p:nvPr/>
        </p:nvSpPr>
        <p:spPr>
          <a:xfrm>
            <a:off x="6126480" y="2194560"/>
            <a:ext cx="2651760" cy="82296"/>
          </a:xfrm>
          <a:prstGeom prst="rect">
            <a:avLst/>
          </a:prstGeom>
          <a:solidFill>
            <a:srgbClr val="B0533F"/>
          </a:solidFill>
          <a:ln/>
        </p:spPr>
        <p:txBody>
          <a:bodyPr/>
          <a:lstStyle/>
          <a:p>
            <a:endParaRPr lang="en-AU"/>
          </a:p>
        </p:txBody>
      </p:sp>
      <p:sp>
        <p:nvSpPr>
          <p:cNvPr id="23" name="Text 21"/>
          <p:cNvSpPr/>
          <p:nvPr/>
        </p:nvSpPr>
        <p:spPr>
          <a:xfrm>
            <a:off x="6327648" y="2395728"/>
            <a:ext cx="1097280" cy="502920"/>
          </a:xfrm>
          <a:prstGeom prst="rect">
            <a:avLst/>
          </a:prstGeom>
          <a:noFill/>
          <a:ln/>
        </p:spPr>
        <p:txBody>
          <a:bodyPr wrap="square" lIns="0" tIns="0" rIns="0" bIns="0" rtlCol="0" anchor="ctr"/>
          <a:lstStyle/>
          <a:p>
            <a:pPr marL="0" indent="0">
              <a:buNone/>
            </a:pPr>
            <a:r>
              <a:rPr lang="en-US" sz="3000" b="1" dirty="0">
                <a:solidFill>
                  <a:srgbClr val="B0533F"/>
                </a:solidFill>
                <a:latin typeface="Georgia" pitchFamily="34" charset="0"/>
                <a:ea typeface="Georgia" pitchFamily="34" charset="-122"/>
                <a:cs typeface="Georgia" pitchFamily="34" charset="-120"/>
              </a:rPr>
              <a:t>03</a:t>
            </a:r>
            <a:endParaRPr lang="en-US" sz="3000" dirty="0"/>
          </a:p>
        </p:txBody>
      </p:sp>
      <p:sp>
        <p:nvSpPr>
          <p:cNvPr id="24" name="Text 22"/>
          <p:cNvSpPr/>
          <p:nvPr/>
        </p:nvSpPr>
        <p:spPr>
          <a:xfrm>
            <a:off x="6327648" y="2944368"/>
            <a:ext cx="2249424" cy="320040"/>
          </a:xfrm>
          <a:prstGeom prst="rect">
            <a:avLst/>
          </a:prstGeom>
          <a:noFill/>
          <a:ln/>
        </p:spPr>
        <p:txBody>
          <a:bodyPr wrap="square" lIns="0" tIns="0" rIns="0" bIns="0" rtlCol="0" anchor="ctr"/>
          <a:lstStyle/>
          <a:p>
            <a:pPr marL="0" indent="0">
              <a:buNone/>
            </a:pPr>
            <a:r>
              <a:rPr lang="en-US" sz="1600" b="1" dirty="0">
                <a:solidFill>
                  <a:srgbClr val="2A2520"/>
                </a:solidFill>
                <a:latin typeface="Georgia" pitchFamily="34" charset="0"/>
                <a:ea typeface="Georgia" pitchFamily="34" charset="-122"/>
                <a:cs typeface="Georgia" pitchFamily="34" charset="-120"/>
              </a:rPr>
              <a:t>Delivery</a:t>
            </a:r>
            <a:endParaRPr lang="en-US" sz="1600" dirty="0"/>
          </a:p>
        </p:txBody>
      </p:sp>
      <p:sp>
        <p:nvSpPr>
          <p:cNvPr id="25" name="Text 23"/>
          <p:cNvSpPr/>
          <p:nvPr/>
        </p:nvSpPr>
        <p:spPr>
          <a:xfrm>
            <a:off x="6327648" y="3246120"/>
            <a:ext cx="2249424" cy="256032"/>
          </a:xfrm>
          <a:prstGeom prst="rect">
            <a:avLst/>
          </a:prstGeom>
          <a:noFill/>
          <a:ln/>
        </p:spPr>
        <p:txBody>
          <a:bodyPr wrap="square" lIns="0" tIns="0" rIns="0" bIns="0" rtlCol="0" anchor="ctr"/>
          <a:lstStyle/>
          <a:p>
            <a:pPr marL="0" indent="0">
              <a:buNone/>
            </a:pPr>
            <a:r>
              <a:rPr lang="en-US" sz="1100" i="1" dirty="0">
                <a:solidFill>
                  <a:srgbClr val="B0533F"/>
                </a:solidFill>
                <a:latin typeface="Calibri" pitchFamily="34" charset="0"/>
                <a:ea typeface="Calibri" pitchFamily="34" charset="-122"/>
                <a:cs typeface="Calibri" pitchFamily="34" charset="-120"/>
              </a:rPr>
              <a:t>How and how well</a:t>
            </a:r>
            <a:endParaRPr lang="en-US" sz="1100" dirty="0"/>
          </a:p>
        </p:txBody>
      </p:sp>
      <p:sp>
        <p:nvSpPr>
          <p:cNvPr id="26" name="Text 24"/>
          <p:cNvSpPr/>
          <p:nvPr/>
        </p:nvSpPr>
        <p:spPr>
          <a:xfrm>
            <a:off x="6327648" y="3511296"/>
            <a:ext cx="2249424" cy="566928"/>
          </a:xfrm>
          <a:prstGeom prst="rect">
            <a:avLst/>
          </a:prstGeom>
          <a:noFill/>
          <a:ln/>
        </p:spPr>
        <p:txBody>
          <a:bodyPr wrap="square" lIns="0" tIns="0" rIns="0" bIns="0" rtlCol="0" anchor="t"/>
          <a:lstStyle/>
          <a:p>
            <a:pPr marL="0" indent="0" algn="l">
              <a:lnSpc>
                <a:spcPct val="102000"/>
              </a:lnSpc>
              <a:buNone/>
            </a:pPr>
            <a:r>
              <a:rPr lang="en-US" sz="1050" dirty="0">
                <a:solidFill>
                  <a:srgbClr val="4A423A"/>
                </a:solidFill>
                <a:latin typeface="Calibri" pitchFamily="34" charset="0"/>
                <a:ea typeface="Calibri" pitchFamily="34" charset="-122"/>
                <a:cs typeface="Calibri" pitchFamily="34" charset="-120"/>
              </a:rPr>
              <a:t>Turns intent into something real through execution, capability and pace. Stays disciplined about outcomes, not just outputs.</a:t>
            </a:r>
            <a:endParaRPr lang="en-US" sz="1050" dirty="0"/>
          </a:p>
        </p:txBody>
      </p:sp>
      <p:sp>
        <p:nvSpPr>
          <p:cNvPr id="27" name="Shape 25"/>
          <p:cNvSpPr/>
          <p:nvPr/>
        </p:nvSpPr>
        <p:spPr>
          <a:xfrm>
            <a:off x="548640" y="4370832"/>
            <a:ext cx="8046720" cy="457200"/>
          </a:xfrm>
          <a:prstGeom prst="rect">
            <a:avLst/>
          </a:prstGeom>
          <a:solidFill>
            <a:srgbClr val="17253F"/>
          </a:solidFill>
          <a:ln/>
        </p:spPr>
        <p:txBody>
          <a:bodyPr/>
          <a:lstStyle/>
          <a:p>
            <a:endParaRPr lang="en-AU"/>
          </a:p>
        </p:txBody>
      </p:sp>
      <p:sp>
        <p:nvSpPr>
          <p:cNvPr id="28" name="Text 26"/>
          <p:cNvSpPr/>
          <p:nvPr/>
        </p:nvSpPr>
        <p:spPr>
          <a:xfrm>
            <a:off x="548640" y="4370832"/>
            <a:ext cx="8046720" cy="457200"/>
          </a:xfrm>
          <a:prstGeom prst="rect">
            <a:avLst/>
          </a:prstGeom>
          <a:noFill/>
          <a:ln/>
        </p:spPr>
        <p:txBody>
          <a:bodyPr wrap="square" lIns="0" tIns="0" rIns="0" bIns="0" rtlCol="0" anchor="ctr"/>
          <a:lstStyle/>
          <a:p>
            <a:pPr marL="0" indent="0" algn="ctr">
              <a:buNone/>
            </a:pPr>
            <a:r>
              <a:rPr lang="en-US" sz="1150" i="1" dirty="0">
                <a:solidFill>
                  <a:srgbClr val="F6EFE4"/>
                </a:solidFill>
                <a:latin typeface="Georgia" pitchFamily="34" charset="0"/>
                <a:ea typeface="Georgia" pitchFamily="34" charset="-122"/>
                <a:cs typeface="Georgia" pitchFamily="34" charset="-120"/>
              </a:rPr>
              <a:t>Strategy without delivery is rhetoric.  Delivery without strategy is activity.  Governance without either is bureaucracy.</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3EA"/>
        </a:solidFill>
        <a:effectLst/>
      </p:bgPr>
    </p:bg>
    <p:spTree>
      <p:nvGrpSpPr>
        <p:cNvPr id="1" name=""/>
        <p:cNvGrpSpPr/>
        <p:nvPr/>
      </p:nvGrpSpPr>
      <p:grpSpPr>
        <a:xfrm>
          <a:off x="0" y="0"/>
          <a:ext cx="0" cy="0"/>
          <a:chOff x="0" y="0"/>
          <a:chExt cx="0" cy="0"/>
        </a:xfrm>
      </p:grpSpPr>
      <p:sp>
        <p:nvSpPr>
          <p:cNvPr id="2" name="Text 0"/>
          <p:cNvSpPr/>
          <p:nvPr/>
        </p:nvSpPr>
        <p:spPr>
          <a:xfrm>
            <a:off x="548640" y="292608"/>
            <a:ext cx="5669280" cy="274320"/>
          </a:xfrm>
          <a:prstGeom prst="rect">
            <a:avLst/>
          </a:prstGeom>
          <a:noFill/>
          <a:ln/>
        </p:spPr>
        <p:txBody>
          <a:bodyPr wrap="square" lIns="0" tIns="0" rIns="0" bIns="0" rtlCol="0" anchor="ctr"/>
          <a:lstStyle/>
          <a:p>
            <a:pPr marL="0" indent="0" algn="l">
              <a:buNone/>
            </a:pPr>
            <a:r>
              <a:rPr lang="en-US" sz="850" b="1" kern="0" spc="150" dirty="0">
                <a:solidFill>
                  <a:srgbClr val="7C8A6B"/>
                </a:solidFill>
                <a:latin typeface="Calibri" pitchFamily="34" charset="0"/>
                <a:ea typeface="Calibri" pitchFamily="34" charset="-122"/>
                <a:cs typeface="Calibri" pitchFamily="34" charset="-120"/>
              </a:rPr>
              <a:t>BRIDGING STRATEGY, GOVERNANCE &amp; DELIVERY</a:t>
            </a:r>
            <a:endParaRPr lang="en-US" sz="850" dirty="0"/>
          </a:p>
        </p:txBody>
      </p:sp>
      <p:sp>
        <p:nvSpPr>
          <p:cNvPr id="3" name="Text 1"/>
          <p:cNvSpPr/>
          <p:nvPr/>
        </p:nvSpPr>
        <p:spPr>
          <a:xfrm>
            <a:off x="6126480" y="292608"/>
            <a:ext cx="2468880" cy="274320"/>
          </a:xfrm>
          <a:prstGeom prst="rect">
            <a:avLst/>
          </a:prstGeom>
          <a:noFill/>
          <a:ln/>
        </p:spPr>
        <p:txBody>
          <a:bodyPr wrap="square" lIns="0" tIns="0" rIns="0" bIns="0" rtlCol="0" anchor="ctr"/>
          <a:lstStyle/>
          <a:p>
            <a:pPr marL="0" indent="0" algn="r">
              <a:buNone/>
            </a:pPr>
            <a:r>
              <a:rPr lang="en-US" sz="850" b="1" kern="0" spc="150" dirty="0">
                <a:solidFill>
                  <a:srgbClr val="B07B33"/>
                </a:solidFill>
                <a:latin typeface="Calibri" pitchFamily="34" charset="0"/>
                <a:ea typeface="Calibri" pitchFamily="34" charset="-122"/>
                <a:cs typeface="Calibri" pitchFamily="34" charset="-120"/>
              </a:rPr>
              <a:t>ESSGEE PROJECTS</a:t>
            </a:r>
            <a:endParaRPr lang="en-US" sz="850" dirty="0"/>
          </a:p>
        </p:txBody>
      </p:sp>
      <p:sp>
        <p:nvSpPr>
          <p:cNvPr id="4" name="Text 2"/>
          <p:cNvSpPr/>
          <p:nvPr/>
        </p:nvSpPr>
        <p:spPr>
          <a:xfrm>
            <a:off x="8229600" y="4718304"/>
            <a:ext cx="457200" cy="274320"/>
          </a:xfrm>
          <a:prstGeom prst="rect">
            <a:avLst/>
          </a:prstGeom>
          <a:noFill/>
          <a:ln/>
        </p:spPr>
        <p:txBody>
          <a:bodyPr wrap="square" lIns="0" tIns="0" rIns="0" bIns="0" rtlCol="0" anchor="ctr"/>
          <a:lstStyle/>
          <a:p>
            <a:pPr marL="0" indent="0" algn="r">
              <a:buNone/>
            </a:pPr>
            <a:r>
              <a:rPr lang="en-US" sz="900" dirty="0">
                <a:solidFill>
                  <a:srgbClr val="9A8E7C"/>
                </a:solidFill>
                <a:latin typeface="Calibri" pitchFamily="34" charset="0"/>
                <a:ea typeface="Calibri" pitchFamily="34" charset="-122"/>
                <a:cs typeface="Calibri" pitchFamily="34" charset="-120"/>
              </a:rPr>
              <a:t>5</a:t>
            </a:r>
            <a:endParaRPr lang="en-US" sz="900" dirty="0"/>
          </a:p>
        </p:txBody>
      </p:sp>
      <p:sp>
        <p:nvSpPr>
          <p:cNvPr id="5" name="Shape 3"/>
          <p:cNvSpPr/>
          <p:nvPr/>
        </p:nvSpPr>
        <p:spPr>
          <a:xfrm>
            <a:off x="548640" y="603504"/>
            <a:ext cx="8046720" cy="10973"/>
          </a:xfrm>
          <a:prstGeom prst="rect">
            <a:avLst/>
          </a:prstGeom>
          <a:solidFill>
            <a:srgbClr val="E4DACA"/>
          </a:solidFill>
          <a:ln/>
        </p:spPr>
        <p:txBody>
          <a:bodyPr/>
          <a:lstStyle/>
          <a:p>
            <a:endParaRPr lang="en-AU"/>
          </a:p>
        </p:txBody>
      </p:sp>
      <p:sp>
        <p:nvSpPr>
          <p:cNvPr id="6" name="Text 4"/>
          <p:cNvSpPr/>
          <p:nvPr/>
        </p:nvSpPr>
        <p:spPr>
          <a:xfrm>
            <a:off x="548640" y="786384"/>
            <a:ext cx="8046720" cy="274320"/>
          </a:xfrm>
          <a:prstGeom prst="rect">
            <a:avLst/>
          </a:prstGeom>
          <a:noFill/>
          <a:ln/>
        </p:spPr>
        <p:txBody>
          <a:bodyPr wrap="square" lIns="0" tIns="0" rIns="0" bIns="0" rtlCol="0" anchor="ctr"/>
          <a:lstStyle/>
          <a:p>
            <a:pPr marL="0" indent="0" algn="l">
              <a:buNone/>
            </a:pPr>
            <a:r>
              <a:rPr lang="en-US" sz="1150" b="1" kern="0" spc="200" dirty="0">
                <a:solidFill>
                  <a:srgbClr val="B0533F"/>
                </a:solidFill>
                <a:latin typeface="Calibri" pitchFamily="34" charset="0"/>
                <a:ea typeface="Calibri" pitchFamily="34" charset="-122"/>
                <a:cs typeface="Calibri" pitchFamily="34" charset="-120"/>
              </a:rPr>
              <a:t>03  ·  THE INTEGRATION</a:t>
            </a:r>
            <a:endParaRPr lang="en-US" sz="1150" dirty="0"/>
          </a:p>
        </p:txBody>
      </p:sp>
      <p:sp>
        <p:nvSpPr>
          <p:cNvPr id="7" name="Text 0"/>
          <p:cNvSpPr>
            <a:spLocks noGrp="1"/>
          </p:cNvSpPr>
          <p:nvPr>
            <p:ph type="title" idx="100" hasCustomPrompt="1"/>
          </p:nvPr>
        </p:nvSpPr>
        <p:spPr>
          <a:xfrm>
            <a:off x="548640" y="914400"/>
            <a:ext cx="8046720" cy="731520"/>
          </a:xfrm>
          <a:prstGeom prst="rect">
            <a:avLst/>
          </a:prstGeom>
          <a:noFill/>
          <a:ln/>
        </p:spPr>
        <p:txBody>
          <a:bodyPr wrap="square" lIns="0" tIns="0" rIns="0" bIns="0" rtlCol="0" anchor="ctr"/>
          <a:lstStyle/>
          <a:p>
            <a:pPr marL="0" indent="0" algn="l">
              <a:buNone/>
            </a:pPr>
            <a:r>
              <a:rPr lang="en-US" sz="2700" b="1" dirty="0">
                <a:solidFill>
                  <a:srgbClr val="2A2520"/>
                </a:solidFill>
                <a:latin typeface="Georgia" pitchFamily="34" charset="0"/>
                <a:ea typeface="Georgia" pitchFamily="34" charset="-122"/>
                <a:cs typeface="Georgia" pitchFamily="34" charset="-120"/>
              </a:rPr>
              <a:t>From silos to a single operating model</a:t>
            </a:r>
            <a:endParaRPr lang="en-US" sz="2700" dirty="0"/>
          </a:p>
        </p:txBody>
      </p:sp>
      <p:sp>
        <p:nvSpPr>
          <p:cNvPr id="8" name="Text 6"/>
          <p:cNvSpPr/>
          <p:nvPr/>
        </p:nvSpPr>
        <p:spPr>
          <a:xfrm>
            <a:off x="548640" y="1828800"/>
            <a:ext cx="4663440" cy="2788920"/>
          </a:xfrm>
          <a:prstGeom prst="rect">
            <a:avLst/>
          </a:prstGeom>
          <a:noFill/>
          <a:ln/>
        </p:spPr>
        <p:txBody>
          <a:bodyPr wrap="square" lIns="0" tIns="0" rIns="0" bIns="0" rtlCol="0" anchor="t"/>
          <a:lstStyle/>
          <a:p>
            <a:pPr marL="0" indent="0" algn="l">
              <a:lnSpc>
                <a:spcPct val="104000"/>
              </a:lnSpc>
              <a:spcAft>
                <a:spcPts val="800"/>
              </a:spcAft>
              <a:buNone/>
            </a:pPr>
            <a:r>
              <a:rPr lang="en-US" sz="1200" dirty="0">
                <a:solidFill>
                  <a:srgbClr val="4A423A"/>
                </a:solidFill>
                <a:latin typeface="Calibri" pitchFamily="34" charset="0"/>
                <a:ea typeface="Calibri" pitchFamily="34" charset="-122"/>
                <a:cs typeface="Calibri" pitchFamily="34" charset="-120"/>
              </a:rPr>
              <a:t>Bridging the three doesn't mean merging teams or blurring accountability. It means designing the organisation so they share information, decisions and accountability through one operating model.</a:t>
            </a:r>
            <a:endParaRPr lang="en-US" sz="1200" dirty="0"/>
          </a:p>
          <a:p>
            <a:pPr marL="0" indent="0" algn="l">
              <a:lnSpc>
                <a:spcPct val="104000"/>
              </a:lnSpc>
              <a:spcAft>
                <a:spcPts val="800"/>
              </a:spcAft>
              <a:buNone/>
            </a:pPr>
            <a:r>
              <a:rPr lang="en-US" sz="1200" dirty="0">
                <a:solidFill>
                  <a:srgbClr val="4A423A"/>
                </a:solidFill>
                <a:latin typeface="Calibri" pitchFamily="34" charset="0"/>
                <a:ea typeface="Calibri" pitchFamily="34" charset="-122"/>
                <a:cs typeface="Calibri" pitchFamily="34" charset="-120"/>
              </a:rPr>
              <a:t>Strategy is shaped with a clear-eyed view of what can be delivered. Governance comes in early, shaping decisions while they can still be influenced. Delivery stays wired to strategic intent, so priorities reset on purpose rather than drift.</a:t>
            </a:r>
            <a:endParaRPr lang="en-US" sz="1200" dirty="0"/>
          </a:p>
          <a:p>
            <a:pPr marL="0" indent="0" algn="l">
              <a:lnSpc>
                <a:spcPct val="104000"/>
              </a:lnSpc>
              <a:buNone/>
            </a:pPr>
            <a:r>
              <a:rPr lang="en-US" sz="1200" dirty="0">
                <a:solidFill>
                  <a:srgbClr val="4A423A"/>
                </a:solidFill>
                <a:latin typeface="Calibri" pitchFamily="34" charset="0"/>
                <a:ea typeface="Calibri" pitchFamily="34" charset="-122"/>
                <a:cs typeface="Calibri" pitchFamily="34" charset="-120"/>
              </a:rPr>
              <a:t>Trade-offs between cost, risk, time and benefit are made openly, at the right level. Information moves both ways — and the organisation starts to learn while it is still moving. It is an operating discipline, not a document.</a:t>
            </a:r>
            <a:endParaRPr lang="en-US" sz="1200" dirty="0"/>
          </a:p>
        </p:txBody>
      </p:sp>
      <p:sp>
        <p:nvSpPr>
          <p:cNvPr id="9" name="Shape 7"/>
          <p:cNvSpPr/>
          <p:nvPr/>
        </p:nvSpPr>
        <p:spPr>
          <a:xfrm>
            <a:off x="6172200" y="1783080"/>
            <a:ext cx="1737360" cy="512064"/>
          </a:xfrm>
          <a:prstGeom prst="roundRect">
            <a:avLst>
              <a:gd name="adj" fmla="val 50000"/>
            </a:avLst>
          </a:prstGeom>
          <a:solidFill>
            <a:srgbClr val="7C8A6B"/>
          </a:solidFill>
          <a:ln/>
          <a:effectLst>
            <a:outerShdw blurRad="88900" dist="38100" dir="5400000" algn="bl" rotWithShape="0">
              <a:srgbClr val="6B5E4A">
                <a:alpha val="18000"/>
              </a:srgbClr>
            </a:outerShdw>
          </a:effectLst>
        </p:spPr>
        <p:txBody>
          <a:bodyPr/>
          <a:lstStyle/>
          <a:p>
            <a:endParaRPr lang="en-AU"/>
          </a:p>
        </p:txBody>
      </p:sp>
      <p:sp>
        <p:nvSpPr>
          <p:cNvPr id="10" name="Text 8"/>
          <p:cNvSpPr/>
          <p:nvPr/>
        </p:nvSpPr>
        <p:spPr>
          <a:xfrm>
            <a:off x="6172200" y="1783080"/>
            <a:ext cx="1737360" cy="512064"/>
          </a:xfrm>
          <a:prstGeom prst="rect">
            <a:avLst/>
          </a:prstGeom>
          <a:noFill/>
          <a:ln/>
        </p:spPr>
        <p:txBody>
          <a:bodyPr wrap="square" lIns="0" tIns="0" rIns="0" bIns="0" rtlCol="0" anchor="ctr"/>
          <a:lstStyle/>
          <a:p>
            <a:pPr marL="0" indent="0" algn="ctr">
              <a:buNone/>
            </a:pPr>
            <a:r>
              <a:rPr lang="en-US" sz="1250" b="1" dirty="0">
                <a:solidFill>
                  <a:srgbClr val="F6EFE4"/>
                </a:solidFill>
                <a:latin typeface="Calibri" pitchFamily="34" charset="0"/>
                <a:ea typeface="Calibri" pitchFamily="34" charset="-122"/>
                <a:cs typeface="Calibri" pitchFamily="34" charset="-120"/>
              </a:rPr>
              <a:t>Strategy</a:t>
            </a:r>
            <a:endParaRPr lang="en-US" sz="1250" dirty="0"/>
          </a:p>
        </p:txBody>
      </p:sp>
      <p:sp>
        <p:nvSpPr>
          <p:cNvPr id="11" name="Shape 9"/>
          <p:cNvSpPr/>
          <p:nvPr/>
        </p:nvSpPr>
        <p:spPr>
          <a:xfrm>
            <a:off x="5394960" y="3429000"/>
            <a:ext cx="1600200" cy="512064"/>
          </a:xfrm>
          <a:prstGeom prst="roundRect">
            <a:avLst>
              <a:gd name="adj" fmla="val 50000"/>
            </a:avLst>
          </a:prstGeom>
          <a:solidFill>
            <a:srgbClr val="B07B33"/>
          </a:solidFill>
          <a:ln/>
          <a:effectLst>
            <a:outerShdw blurRad="88900" dist="38100" dir="5400000" algn="bl" rotWithShape="0">
              <a:srgbClr val="6B5E4A">
                <a:alpha val="18000"/>
              </a:srgbClr>
            </a:outerShdw>
          </a:effectLst>
        </p:spPr>
        <p:txBody>
          <a:bodyPr/>
          <a:lstStyle/>
          <a:p>
            <a:endParaRPr lang="en-AU"/>
          </a:p>
        </p:txBody>
      </p:sp>
      <p:sp>
        <p:nvSpPr>
          <p:cNvPr id="12" name="Text 10"/>
          <p:cNvSpPr/>
          <p:nvPr/>
        </p:nvSpPr>
        <p:spPr>
          <a:xfrm>
            <a:off x="5394960" y="3429000"/>
            <a:ext cx="1600200" cy="512064"/>
          </a:xfrm>
          <a:prstGeom prst="rect">
            <a:avLst/>
          </a:prstGeom>
          <a:noFill/>
          <a:ln/>
        </p:spPr>
        <p:txBody>
          <a:bodyPr wrap="square" lIns="0" tIns="0" rIns="0" bIns="0" rtlCol="0" anchor="ctr"/>
          <a:lstStyle/>
          <a:p>
            <a:pPr marL="0" indent="0" algn="ctr">
              <a:buNone/>
            </a:pPr>
            <a:r>
              <a:rPr lang="en-US" sz="1250" b="1" dirty="0">
                <a:solidFill>
                  <a:srgbClr val="F6EFE4"/>
                </a:solidFill>
                <a:latin typeface="Calibri" pitchFamily="34" charset="0"/>
                <a:ea typeface="Calibri" pitchFamily="34" charset="-122"/>
                <a:cs typeface="Calibri" pitchFamily="34" charset="-120"/>
              </a:rPr>
              <a:t>Governance</a:t>
            </a:r>
            <a:endParaRPr lang="en-US" sz="1250" dirty="0"/>
          </a:p>
        </p:txBody>
      </p:sp>
      <p:sp>
        <p:nvSpPr>
          <p:cNvPr id="13" name="Shape 11"/>
          <p:cNvSpPr/>
          <p:nvPr/>
        </p:nvSpPr>
        <p:spPr>
          <a:xfrm>
            <a:off x="7178040" y="3429000"/>
            <a:ext cx="1600200" cy="512064"/>
          </a:xfrm>
          <a:prstGeom prst="roundRect">
            <a:avLst>
              <a:gd name="adj" fmla="val 50000"/>
            </a:avLst>
          </a:prstGeom>
          <a:solidFill>
            <a:srgbClr val="B0533F"/>
          </a:solidFill>
          <a:ln/>
          <a:effectLst>
            <a:outerShdw blurRad="88900" dist="38100" dir="5400000" algn="bl" rotWithShape="0">
              <a:srgbClr val="6B5E4A">
                <a:alpha val="18000"/>
              </a:srgbClr>
            </a:outerShdw>
          </a:effectLst>
        </p:spPr>
        <p:txBody>
          <a:bodyPr/>
          <a:lstStyle/>
          <a:p>
            <a:endParaRPr lang="en-AU"/>
          </a:p>
        </p:txBody>
      </p:sp>
      <p:sp>
        <p:nvSpPr>
          <p:cNvPr id="14" name="Text 12"/>
          <p:cNvSpPr/>
          <p:nvPr/>
        </p:nvSpPr>
        <p:spPr>
          <a:xfrm>
            <a:off x="7178040" y="3429000"/>
            <a:ext cx="1600200" cy="512064"/>
          </a:xfrm>
          <a:prstGeom prst="rect">
            <a:avLst/>
          </a:prstGeom>
          <a:noFill/>
          <a:ln/>
        </p:spPr>
        <p:txBody>
          <a:bodyPr wrap="square" lIns="0" tIns="0" rIns="0" bIns="0" rtlCol="0" anchor="ctr"/>
          <a:lstStyle/>
          <a:p>
            <a:pPr marL="0" indent="0" algn="ctr">
              <a:buNone/>
            </a:pPr>
            <a:r>
              <a:rPr lang="en-US" sz="1250" b="1" dirty="0">
                <a:solidFill>
                  <a:srgbClr val="F6EFE4"/>
                </a:solidFill>
                <a:latin typeface="Calibri" pitchFamily="34" charset="0"/>
                <a:ea typeface="Calibri" pitchFamily="34" charset="-122"/>
                <a:cs typeface="Calibri" pitchFamily="34" charset="-120"/>
              </a:rPr>
              <a:t>Delivery</a:t>
            </a:r>
            <a:endParaRPr lang="en-US" sz="1250" dirty="0"/>
          </a:p>
        </p:txBody>
      </p:sp>
      <p:sp>
        <p:nvSpPr>
          <p:cNvPr id="15" name="Shape 13"/>
          <p:cNvSpPr/>
          <p:nvPr/>
        </p:nvSpPr>
        <p:spPr>
          <a:xfrm flipH="1">
            <a:off x="6195060" y="2295144"/>
            <a:ext cx="845820" cy="1133856"/>
          </a:xfrm>
          <a:prstGeom prst="line">
            <a:avLst/>
          </a:prstGeom>
          <a:noFill/>
          <a:ln w="15875">
            <a:solidFill>
              <a:srgbClr val="9A8E7C"/>
            </a:solidFill>
            <a:prstDash val="dash"/>
          </a:ln>
        </p:spPr>
        <p:txBody>
          <a:bodyPr/>
          <a:lstStyle/>
          <a:p>
            <a:endParaRPr lang="en-AU"/>
          </a:p>
        </p:txBody>
      </p:sp>
      <p:sp>
        <p:nvSpPr>
          <p:cNvPr id="16" name="Shape 14"/>
          <p:cNvSpPr/>
          <p:nvPr/>
        </p:nvSpPr>
        <p:spPr>
          <a:xfrm>
            <a:off x="7040880" y="2295144"/>
            <a:ext cx="937260" cy="1133856"/>
          </a:xfrm>
          <a:prstGeom prst="line">
            <a:avLst/>
          </a:prstGeom>
          <a:noFill/>
          <a:ln w="15875">
            <a:solidFill>
              <a:srgbClr val="9A8E7C"/>
            </a:solidFill>
            <a:prstDash val="dash"/>
          </a:ln>
        </p:spPr>
        <p:txBody>
          <a:bodyPr/>
          <a:lstStyle/>
          <a:p>
            <a:endParaRPr lang="en-AU"/>
          </a:p>
        </p:txBody>
      </p:sp>
      <p:sp>
        <p:nvSpPr>
          <p:cNvPr id="17" name="Shape 15"/>
          <p:cNvSpPr/>
          <p:nvPr/>
        </p:nvSpPr>
        <p:spPr>
          <a:xfrm>
            <a:off x="6995160" y="3685032"/>
            <a:ext cx="182880" cy="0"/>
          </a:xfrm>
          <a:prstGeom prst="line">
            <a:avLst/>
          </a:prstGeom>
          <a:noFill/>
          <a:ln w="15875">
            <a:solidFill>
              <a:srgbClr val="9A8E7C"/>
            </a:solidFill>
            <a:prstDash val="dash"/>
          </a:ln>
        </p:spPr>
        <p:txBody>
          <a:bodyPr/>
          <a:lstStyle/>
          <a:p>
            <a:endParaRPr lang="en-AU"/>
          </a:p>
        </p:txBody>
      </p:sp>
      <p:sp>
        <p:nvSpPr>
          <p:cNvPr id="18" name="Text 16"/>
          <p:cNvSpPr/>
          <p:nvPr/>
        </p:nvSpPr>
        <p:spPr>
          <a:xfrm>
            <a:off x="6263640" y="2514600"/>
            <a:ext cx="1554480" cy="822960"/>
          </a:xfrm>
          <a:prstGeom prst="rect">
            <a:avLst/>
          </a:prstGeom>
          <a:noFill/>
          <a:ln/>
        </p:spPr>
        <p:txBody>
          <a:bodyPr wrap="square" lIns="0" tIns="0" rIns="0" bIns="0" rtlCol="0" anchor="ctr"/>
          <a:lstStyle/>
          <a:p>
            <a:pPr marL="0" indent="0" algn="ctr">
              <a:buNone/>
            </a:pPr>
            <a:r>
              <a:rPr lang="en-US" sz="950" b="1" kern="0" spc="100" dirty="0">
                <a:solidFill>
                  <a:srgbClr val="B07B33"/>
                </a:solidFill>
                <a:latin typeface="Calibri" pitchFamily="34" charset="0"/>
                <a:ea typeface="Calibri" pitchFamily="34" charset="-122"/>
                <a:cs typeface="Calibri" pitchFamily="34" charset="-120"/>
              </a:rPr>
              <a:t>ONE</a:t>
            </a:r>
            <a:endParaRPr lang="en-US" sz="950" dirty="0"/>
          </a:p>
          <a:p>
            <a:pPr marL="0" indent="0" algn="ctr">
              <a:buNone/>
            </a:pPr>
            <a:r>
              <a:rPr lang="en-US" sz="1050" b="1" kern="0" spc="100" dirty="0">
                <a:solidFill>
                  <a:srgbClr val="2A2520"/>
                </a:solidFill>
                <a:latin typeface="Calibri" pitchFamily="34" charset="0"/>
                <a:ea typeface="Calibri" pitchFamily="34" charset="-122"/>
                <a:cs typeface="Calibri" pitchFamily="34" charset="-120"/>
              </a:rPr>
              <a:t>OPERATING</a:t>
            </a:r>
            <a:endParaRPr lang="en-US" sz="950" dirty="0"/>
          </a:p>
          <a:p>
            <a:pPr marL="0" indent="0" algn="ctr">
              <a:buNone/>
            </a:pPr>
            <a:r>
              <a:rPr lang="en-US" sz="1050" b="1" kern="0" spc="100" dirty="0">
                <a:solidFill>
                  <a:srgbClr val="2A2520"/>
                </a:solidFill>
                <a:latin typeface="Calibri" pitchFamily="34" charset="0"/>
                <a:ea typeface="Calibri" pitchFamily="34" charset="-122"/>
                <a:cs typeface="Calibri" pitchFamily="34" charset="-120"/>
              </a:rPr>
              <a:t>MODEL</a:t>
            </a:r>
            <a:endParaRPr lang="en-US" sz="950" dirty="0"/>
          </a:p>
        </p:txBody>
      </p:sp>
      <p:sp>
        <p:nvSpPr>
          <p:cNvPr id="19" name="Text 17"/>
          <p:cNvSpPr/>
          <p:nvPr/>
        </p:nvSpPr>
        <p:spPr>
          <a:xfrm>
            <a:off x="5349240" y="4206240"/>
            <a:ext cx="3291840" cy="320040"/>
          </a:xfrm>
          <a:prstGeom prst="rect">
            <a:avLst/>
          </a:prstGeom>
          <a:noFill/>
          <a:ln/>
        </p:spPr>
        <p:txBody>
          <a:bodyPr wrap="square" lIns="0" tIns="0" rIns="0" bIns="0" rtlCol="0" anchor="ctr"/>
          <a:lstStyle/>
          <a:p>
            <a:pPr marL="0" indent="0" algn="ctr">
              <a:buNone/>
            </a:pPr>
            <a:r>
              <a:rPr lang="en-US" sz="950" i="1" dirty="0">
                <a:solidFill>
                  <a:srgbClr val="9A8E7C"/>
                </a:solidFill>
                <a:latin typeface="Calibri" pitchFamily="34" charset="0"/>
                <a:ea typeface="Calibri" pitchFamily="34" charset="-122"/>
                <a:cs typeface="Calibri" pitchFamily="34" charset="-120"/>
              </a:rPr>
              <a:t>Three functions, joined in one operating model.</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3EA"/>
        </a:solidFill>
        <a:effectLst/>
      </p:bgPr>
    </p:bg>
    <p:spTree>
      <p:nvGrpSpPr>
        <p:cNvPr id="1" name=""/>
        <p:cNvGrpSpPr/>
        <p:nvPr/>
      </p:nvGrpSpPr>
      <p:grpSpPr>
        <a:xfrm>
          <a:off x="0" y="0"/>
          <a:ext cx="0" cy="0"/>
          <a:chOff x="0" y="0"/>
          <a:chExt cx="0" cy="0"/>
        </a:xfrm>
      </p:grpSpPr>
      <p:sp>
        <p:nvSpPr>
          <p:cNvPr id="2" name="Text 0"/>
          <p:cNvSpPr/>
          <p:nvPr/>
        </p:nvSpPr>
        <p:spPr>
          <a:xfrm>
            <a:off x="548640" y="292608"/>
            <a:ext cx="5669280" cy="274320"/>
          </a:xfrm>
          <a:prstGeom prst="rect">
            <a:avLst/>
          </a:prstGeom>
          <a:noFill/>
          <a:ln/>
        </p:spPr>
        <p:txBody>
          <a:bodyPr wrap="square" lIns="0" tIns="0" rIns="0" bIns="0" rtlCol="0" anchor="ctr"/>
          <a:lstStyle/>
          <a:p>
            <a:pPr marL="0" indent="0" algn="l">
              <a:buNone/>
            </a:pPr>
            <a:r>
              <a:rPr lang="en-US" sz="850" b="1" kern="0" spc="150" dirty="0">
                <a:solidFill>
                  <a:srgbClr val="7C8A6B"/>
                </a:solidFill>
                <a:latin typeface="Calibri" pitchFamily="34" charset="0"/>
                <a:ea typeface="Calibri" pitchFamily="34" charset="-122"/>
                <a:cs typeface="Calibri" pitchFamily="34" charset="-120"/>
              </a:rPr>
              <a:t>BRIDGING STRATEGY, GOVERNANCE &amp; DELIVERY</a:t>
            </a:r>
            <a:endParaRPr lang="en-US" sz="850" dirty="0"/>
          </a:p>
        </p:txBody>
      </p:sp>
      <p:sp>
        <p:nvSpPr>
          <p:cNvPr id="3" name="Text 1"/>
          <p:cNvSpPr/>
          <p:nvPr/>
        </p:nvSpPr>
        <p:spPr>
          <a:xfrm>
            <a:off x="6126480" y="292608"/>
            <a:ext cx="2468880" cy="274320"/>
          </a:xfrm>
          <a:prstGeom prst="rect">
            <a:avLst/>
          </a:prstGeom>
          <a:noFill/>
          <a:ln/>
        </p:spPr>
        <p:txBody>
          <a:bodyPr wrap="square" lIns="0" tIns="0" rIns="0" bIns="0" rtlCol="0" anchor="ctr"/>
          <a:lstStyle/>
          <a:p>
            <a:pPr marL="0" indent="0" algn="r">
              <a:buNone/>
            </a:pPr>
            <a:r>
              <a:rPr lang="en-US" sz="850" b="1" kern="0" spc="150" dirty="0">
                <a:solidFill>
                  <a:srgbClr val="B07B33"/>
                </a:solidFill>
                <a:latin typeface="Calibri" pitchFamily="34" charset="0"/>
                <a:ea typeface="Calibri" pitchFamily="34" charset="-122"/>
                <a:cs typeface="Calibri" pitchFamily="34" charset="-120"/>
              </a:rPr>
              <a:t>ESSGEE PROJECTS</a:t>
            </a:r>
            <a:endParaRPr lang="en-US" sz="850" dirty="0"/>
          </a:p>
        </p:txBody>
      </p:sp>
      <p:sp>
        <p:nvSpPr>
          <p:cNvPr id="4" name="Text 2"/>
          <p:cNvSpPr/>
          <p:nvPr/>
        </p:nvSpPr>
        <p:spPr>
          <a:xfrm>
            <a:off x="8229600" y="4718304"/>
            <a:ext cx="457200" cy="274320"/>
          </a:xfrm>
          <a:prstGeom prst="rect">
            <a:avLst/>
          </a:prstGeom>
          <a:noFill/>
          <a:ln/>
        </p:spPr>
        <p:txBody>
          <a:bodyPr wrap="square" lIns="0" tIns="0" rIns="0" bIns="0" rtlCol="0" anchor="ctr"/>
          <a:lstStyle/>
          <a:p>
            <a:pPr marL="0" indent="0" algn="r">
              <a:buNone/>
            </a:pPr>
            <a:r>
              <a:rPr lang="en-US" sz="900" dirty="0">
                <a:solidFill>
                  <a:srgbClr val="9A8E7C"/>
                </a:solidFill>
                <a:latin typeface="Calibri" pitchFamily="34" charset="0"/>
                <a:ea typeface="Calibri" pitchFamily="34" charset="-122"/>
                <a:cs typeface="Calibri" pitchFamily="34" charset="-120"/>
              </a:rPr>
              <a:t>6</a:t>
            </a:r>
            <a:endParaRPr lang="en-US" sz="900" dirty="0"/>
          </a:p>
        </p:txBody>
      </p:sp>
      <p:sp>
        <p:nvSpPr>
          <p:cNvPr id="5" name="Shape 3"/>
          <p:cNvSpPr/>
          <p:nvPr/>
        </p:nvSpPr>
        <p:spPr>
          <a:xfrm>
            <a:off x="548640" y="603504"/>
            <a:ext cx="8046720" cy="10973"/>
          </a:xfrm>
          <a:prstGeom prst="rect">
            <a:avLst/>
          </a:prstGeom>
          <a:solidFill>
            <a:srgbClr val="E4DACA"/>
          </a:solidFill>
          <a:ln/>
        </p:spPr>
        <p:txBody>
          <a:bodyPr/>
          <a:lstStyle/>
          <a:p>
            <a:endParaRPr lang="en-AU"/>
          </a:p>
        </p:txBody>
      </p:sp>
      <p:sp>
        <p:nvSpPr>
          <p:cNvPr id="6" name="Text 4"/>
          <p:cNvSpPr/>
          <p:nvPr/>
        </p:nvSpPr>
        <p:spPr>
          <a:xfrm>
            <a:off x="548640" y="786384"/>
            <a:ext cx="8046720" cy="274320"/>
          </a:xfrm>
          <a:prstGeom prst="rect">
            <a:avLst/>
          </a:prstGeom>
          <a:noFill/>
          <a:ln/>
        </p:spPr>
        <p:txBody>
          <a:bodyPr wrap="square" lIns="0" tIns="0" rIns="0" bIns="0" rtlCol="0" anchor="ctr"/>
          <a:lstStyle/>
          <a:p>
            <a:pPr marL="0" indent="0" algn="l">
              <a:buNone/>
            </a:pPr>
            <a:r>
              <a:rPr lang="en-US" sz="1150" b="1" kern="0" spc="200" dirty="0">
                <a:solidFill>
                  <a:srgbClr val="B0533F"/>
                </a:solidFill>
                <a:latin typeface="Calibri" pitchFamily="34" charset="0"/>
                <a:ea typeface="Calibri" pitchFamily="34" charset="-122"/>
                <a:cs typeface="Calibri" pitchFamily="34" charset="-120"/>
              </a:rPr>
              <a:t>04  ·  THE VALUE</a:t>
            </a:r>
            <a:endParaRPr lang="en-US" sz="1150" dirty="0"/>
          </a:p>
        </p:txBody>
      </p:sp>
      <p:sp>
        <p:nvSpPr>
          <p:cNvPr id="7" name="Text 0"/>
          <p:cNvSpPr>
            <a:spLocks noGrp="1"/>
          </p:cNvSpPr>
          <p:nvPr>
            <p:ph type="title" idx="100" hasCustomPrompt="1"/>
          </p:nvPr>
        </p:nvSpPr>
        <p:spPr>
          <a:xfrm>
            <a:off x="548640" y="914400"/>
            <a:ext cx="8046720" cy="731520"/>
          </a:xfrm>
          <a:prstGeom prst="rect">
            <a:avLst/>
          </a:prstGeom>
          <a:noFill/>
          <a:ln/>
        </p:spPr>
        <p:txBody>
          <a:bodyPr wrap="square" lIns="0" tIns="0" rIns="0" bIns="0" rtlCol="0" anchor="ctr"/>
          <a:lstStyle/>
          <a:p>
            <a:pPr marL="0" indent="0" algn="l">
              <a:buNone/>
            </a:pPr>
            <a:r>
              <a:rPr lang="en-US" sz="2700" b="1" dirty="0">
                <a:solidFill>
                  <a:srgbClr val="2A2520"/>
                </a:solidFill>
                <a:latin typeface="Georgia" pitchFamily="34" charset="0"/>
                <a:ea typeface="Georgia" pitchFamily="34" charset="-122"/>
                <a:cs typeface="Georgia" pitchFamily="34" charset="-120"/>
              </a:rPr>
              <a:t>Why alignment matters</a:t>
            </a:r>
            <a:endParaRPr lang="en-US" sz="2700" dirty="0"/>
          </a:p>
        </p:txBody>
      </p:sp>
      <p:sp>
        <p:nvSpPr>
          <p:cNvPr id="8" name="Text 6"/>
          <p:cNvSpPr/>
          <p:nvPr/>
        </p:nvSpPr>
        <p:spPr>
          <a:xfrm>
            <a:off x="548640" y="1700784"/>
            <a:ext cx="8046720" cy="365760"/>
          </a:xfrm>
          <a:prstGeom prst="rect">
            <a:avLst/>
          </a:prstGeom>
          <a:noFill/>
          <a:ln/>
        </p:spPr>
        <p:txBody>
          <a:bodyPr wrap="square" lIns="0" tIns="0" rIns="0" bIns="0" rtlCol="0" anchor="ctr"/>
          <a:lstStyle/>
          <a:p>
            <a:pPr marL="0" indent="0" algn="l">
              <a:buNone/>
            </a:pPr>
            <a:r>
              <a:rPr lang="en-US" sz="1250" dirty="0">
                <a:solidFill>
                  <a:srgbClr val="4A423A"/>
                </a:solidFill>
                <a:latin typeface="Calibri" pitchFamily="34" charset="0"/>
                <a:ea typeface="Calibri" pitchFamily="34" charset="-122"/>
                <a:cs typeface="Calibri" pitchFamily="34" charset="-120"/>
              </a:rPr>
              <a:t>When strategy, governance and delivery pull in the same direction, the benefits compound — and show up in three places.</a:t>
            </a:r>
            <a:r>
              <a:rPr lang="en-US" sz="800" b="1" baseline="30000" dirty="0">
                <a:solidFill>
                  <a:srgbClr val="B0533F"/>
                </a:solidFill>
                <a:latin typeface="Calibri" pitchFamily="34" charset="0"/>
                <a:ea typeface="Calibri" pitchFamily="34" charset="-122"/>
                <a:cs typeface="Calibri" pitchFamily="34" charset="-120"/>
              </a:rPr>
              <a:t> 3</a:t>
            </a:r>
            <a:endParaRPr lang="en-US" sz="1250" dirty="0"/>
          </a:p>
        </p:txBody>
      </p:sp>
      <p:sp>
        <p:nvSpPr>
          <p:cNvPr id="9" name="Shape 7"/>
          <p:cNvSpPr/>
          <p:nvPr/>
        </p:nvSpPr>
        <p:spPr>
          <a:xfrm>
            <a:off x="548640" y="2176272"/>
            <a:ext cx="2651760" cy="1938528"/>
          </a:xfrm>
          <a:prstGeom prst="rect">
            <a:avLst/>
          </a:prstGeom>
          <a:solidFill>
            <a:srgbClr val="FFFFFF"/>
          </a:solidFill>
          <a:ln w="12700">
            <a:solidFill>
              <a:srgbClr val="E4DACA"/>
            </a:solidFill>
            <a:prstDash val="solid"/>
          </a:ln>
          <a:effectLst>
            <a:outerShdw blurRad="88900" dist="38100" dir="5400000" algn="bl" rotWithShape="0">
              <a:srgbClr val="6B5E4A">
                <a:alpha val="18000"/>
              </a:srgbClr>
            </a:outerShdw>
          </a:effectLst>
        </p:spPr>
        <p:txBody>
          <a:bodyPr/>
          <a:lstStyle/>
          <a:p>
            <a:endParaRPr lang="en-AU"/>
          </a:p>
        </p:txBody>
      </p:sp>
      <p:sp>
        <p:nvSpPr>
          <p:cNvPr id="10" name="Shape 8"/>
          <p:cNvSpPr/>
          <p:nvPr/>
        </p:nvSpPr>
        <p:spPr>
          <a:xfrm>
            <a:off x="768096" y="2377440"/>
            <a:ext cx="457200" cy="457200"/>
          </a:xfrm>
          <a:prstGeom prst="ellipse">
            <a:avLst/>
          </a:prstGeom>
          <a:solidFill>
            <a:srgbClr val="7C8A6B"/>
          </a:solidFill>
          <a:ln/>
        </p:spPr>
        <p:txBody>
          <a:bodyPr/>
          <a:lstStyle/>
          <a:p>
            <a:endParaRPr lang="en-AU"/>
          </a:p>
        </p:txBody>
      </p:sp>
      <p:sp>
        <p:nvSpPr>
          <p:cNvPr id="11" name="Text 9"/>
          <p:cNvSpPr/>
          <p:nvPr/>
        </p:nvSpPr>
        <p:spPr>
          <a:xfrm>
            <a:off x="768096" y="2377440"/>
            <a:ext cx="457200" cy="457200"/>
          </a:xfrm>
          <a:prstGeom prst="rect">
            <a:avLst/>
          </a:prstGeom>
          <a:noFill/>
          <a:ln/>
        </p:spPr>
        <p:txBody>
          <a:bodyPr wrap="square" lIns="0" tIns="0" rIns="0" bIns="0" rtlCol="0" anchor="ctr"/>
          <a:lstStyle/>
          <a:p>
            <a:pPr marL="0" indent="0" algn="ctr">
              <a:buNone/>
            </a:pPr>
            <a:r>
              <a:rPr lang="en-US" sz="1700" b="1" dirty="0">
                <a:solidFill>
                  <a:srgbClr val="F6EFE4"/>
                </a:solidFill>
                <a:latin typeface="Georgia" pitchFamily="34" charset="0"/>
                <a:ea typeface="Georgia" pitchFamily="34" charset="-122"/>
                <a:cs typeface="Georgia" pitchFamily="34" charset="-120"/>
              </a:rPr>
              <a:t>R</a:t>
            </a:r>
            <a:endParaRPr lang="en-US" sz="1700" dirty="0"/>
          </a:p>
        </p:txBody>
      </p:sp>
      <p:sp>
        <p:nvSpPr>
          <p:cNvPr id="12" name="Text 10"/>
          <p:cNvSpPr/>
          <p:nvPr/>
        </p:nvSpPr>
        <p:spPr>
          <a:xfrm>
            <a:off x="1335024" y="2395728"/>
            <a:ext cx="1737360" cy="420624"/>
          </a:xfrm>
          <a:prstGeom prst="rect">
            <a:avLst/>
          </a:prstGeom>
          <a:noFill/>
          <a:ln/>
        </p:spPr>
        <p:txBody>
          <a:bodyPr wrap="square" lIns="0" tIns="0" rIns="0" bIns="0" rtlCol="0" anchor="ctr"/>
          <a:lstStyle/>
          <a:p>
            <a:pPr marL="0" indent="0">
              <a:buNone/>
            </a:pPr>
            <a:r>
              <a:rPr lang="en-US" sz="1700" b="1" dirty="0">
                <a:solidFill>
                  <a:srgbClr val="2A2520"/>
                </a:solidFill>
                <a:latin typeface="Georgia" pitchFamily="34" charset="0"/>
                <a:ea typeface="Georgia" pitchFamily="34" charset="-122"/>
                <a:cs typeface="Georgia" pitchFamily="34" charset="-120"/>
              </a:rPr>
              <a:t>Resilience</a:t>
            </a:r>
            <a:endParaRPr lang="en-US" sz="1700" dirty="0"/>
          </a:p>
        </p:txBody>
      </p:sp>
      <p:sp>
        <p:nvSpPr>
          <p:cNvPr id="13" name="Text 11"/>
          <p:cNvSpPr/>
          <p:nvPr/>
        </p:nvSpPr>
        <p:spPr>
          <a:xfrm>
            <a:off x="768096" y="2926080"/>
            <a:ext cx="2212848" cy="457200"/>
          </a:xfrm>
          <a:prstGeom prst="rect">
            <a:avLst/>
          </a:prstGeom>
          <a:noFill/>
          <a:ln/>
        </p:spPr>
        <p:txBody>
          <a:bodyPr wrap="square" lIns="0" tIns="0" rIns="0" bIns="0" rtlCol="0" anchor="t"/>
          <a:lstStyle/>
          <a:p>
            <a:pPr marL="0" indent="0" algn="l">
              <a:lnSpc>
                <a:spcPct val="100000"/>
              </a:lnSpc>
              <a:buNone/>
            </a:pPr>
            <a:r>
              <a:rPr lang="en-US" sz="1150" b="1" dirty="0">
                <a:solidFill>
                  <a:srgbClr val="7C8A6B"/>
                </a:solidFill>
                <a:latin typeface="Calibri" pitchFamily="34" charset="0"/>
                <a:ea typeface="Calibri" pitchFamily="34" charset="-122"/>
                <a:cs typeface="Calibri" pitchFamily="34" charset="-120"/>
              </a:rPr>
              <a:t>Absorbs change without losing direction</a:t>
            </a:r>
            <a:endParaRPr lang="en-US" sz="1150" dirty="0"/>
          </a:p>
        </p:txBody>
      </p:sp>
      <p:sp>
        <p:nvSpPr>
          <p:cNvPr id="14" name="Text 12"/>
          <p:cNvSpPr/>
          <p:nvPr/>
        </p:nvSpPr>
        <p:spPr>
          <a:xfrm>
            <a:off x="768096" y="3401568"/>
            <a:ext cx="2212848" cy="658368"/>
          </a:xfrm>
          <a:prstGeom prst="rect">
            <a:avLst/>
          </a:prstGeom>
          <a:noFill/>
          <a:ln/>
        </p:spPr>
        <p:txBody>
          <a:bodyPr wrap="square" lIns="0" tIns="0" rIns="0" bIns="0" rtlCol="0" anchor="t"/>
          <a:lstStyle/>
          <a:p>
            <a:pPr marL="0" indent="0" algn="l">
              <a:lnSpc>
                <a:spcPct val="102000"/>
              </a:lnSpc>
              <a:buNone/>
            </a:pPr>
            <a:r>
              <a:rPr lang="en-US" sz="1050" dirty="0">
                <a:solidFill>
                  <a:srgbClr val="4A423A"/>
                </a:solidFill>
                <a:latin typeface="Calibri" pitchFamily="34" charset="0"/>
                <a:ea typeface="Calibri" pitchFamily="34" charset="-122"/>
                <a:cs typeface="Calibri" pitchFamily="34" charset="-120"/>
              </a:rPr>
              <a:t>A market shift is met with a deliberate adjustment rather than a scramble, because everyone shares the same view of what matters most.</a:t>
            </a:r>
            <a:endParaRPr lang="en-US" sz="1050" dirty="0"/>
          </a:p>
        </p:txBody>
      </p:sp>
      <p:sp>
        <p:nvSpPr>
          <p:cNvPr id="15" name="Shape 13"/>
          <p:cNvSpPr/>
          <p:nvPr/>
        </p:nvSpPr>
        <p:spPr>
          <a:xfrm>
            <a:off x="3337560" y="2176272"/>
            <a:ext cx="2651760" cy="1938528"/>
          </a:xfrm>
          <a:prstGeom prst="rect">
            <a:avLst/>
          </a:prstGeom>
          <a:solidFill>
            <a:srgbClr val="FFFFFF"/>
          </a:solidFill>
          <a:ln w="12700">
            <a:solidFill>
              <a:srgbClr val="E4DACA"/>
            </a:solidFill>
            <a:prstDash val="solid"/>
          </a:ln>
          <a:effectLst>
            <a:outerShdw blurRad="88900" dist="38100" dir="5400000" algn="bl" rotWithShape="0">
              <a:srgbClr val="6B5E4A">
                <a:alpha val="18000"/>
              </a:srgbClr>
            </a:outerShdw>
          </a:effectLst>
        </p:spPr>
        <p:txBody>
          <a:bodyPr/>
          <a:lstStyle/>
          <a:p>
            <a:endParaRPr lang="en-AU"/>
          </a:p>
        </p:txBody>
      </p:sp>
      <p:sp>
        <p:nvSpPr>
          <p:cNvPr id="16" name="Shape 14"/>
          <p:cNvSpPr/>
          <p:nvPr/>
        </p:nvSpPr>
        <p:spPr>
          <a:xfrm>
            <a:off x="3557016" y="2377440"/>
            <a:ext cx="457200" cy="457200"/>
          </a:xfrm>
          <a:prstGeom prst="ellipse">
            <a:avLst/>
          </a:prstGeom>
          <a:solidFill>
            <a:srgbClr val="B07B33"/>
          </a:solidFill>
          <a:ln/>
        </p:spPr>
        <p:txBody>
          <a:bodyPr/>
          <a:lstStyle/>
          <a:p>
            <a:endParaRPr lang="en-AU"/>
          </a:p>
        </p:txBody>
      </p:sp>
      <p:sp>
        <p:nvSpPr>
          <p:cNvPr id="17" name="Text 15"/>
          <p:cNvSpPr/>
          <p:nvPr/>
        </p:nvSpPr>
        <p:spPr>
          <a:xfrm>
            <a:off x="3557016" y="2377440"/>
            <a:ext cx="457200" cy="457200"/>
          </a:xfrm>
          <a:prstGeom prst="rect">
            <a:avLst/>
          </a:prstGeom>
          <a:noFill/>
          <a:ln/>
        </p:spPr>
        <p:txBody>
          <a:bodyPr wrap="square" lIns="0" tIns="0" rIns="0" bIns="0" rtlCol="0" anchor="ctr"/>
          <a:lstStyle/>
          <a:p>
            <a:pPr marL="0" indent="0" algn="ctr">
              <a:buNone/>
            </a:pPr>
            <a:r>
              <a:rPr lang="en-US" sz="1700" b="1" dirty="0">
                <a:solidFill>
                  <a:srgbClr val="F6EFE4"/>
                </a:solidFill>
                <a:latin typeface="Georgia" pitchFamily="34" charset="0"/>
                <a:ea typeface="Georgia" pitchFamily="34" charset="-122"/>
                <a:cs typeface="Georgia" pitchFamily="34" charset="-120"/>
              </a:rPr>
              <a:t>R</a:t>
            </a:r>
            <a:endParaRPr lang="en-US" sz="1700" dirty="0"/>
          </a:p>
        </p:txBody>
      </p:sp>
      <p:sp>
        <p:nvSpPr>
          <p:cNvPr id="18" name="Text 16"/>
          <p:cNvSpPr/>
          <p:nvPr/>
        </p:nvSpPr>
        <p:spPr>
          <a:xfrm>
            <a:off x="4123944" y="2395728"/>
            <a:ext cx="1737360" cy="420624"/>
          </a:xfrm>
          <a:prstGeom prst="rect">
            <a:avLst/>
          </a:prstGeom>
          <a:noFill/>
          <a:ln/>
        </p:spPr>
        <p:txBody>
          <a:bodyPr wrap="square" lIns="0" tIns="0" rIns="0" bIns="0" rtlCol="0" anchor="ctr"/>
          <a:lstStyle/>
          <a:p>
            <a:pPr marL="0" indent="0">
              <a:buNone/>
            </a:pPr>
            <a:r>
              <a:rPr lang="en-US" sz="1700" b="1" dirty="0">
                <a:solidFill>
                  <a:srgbClr val="2A2520"/>
                </a:solidFill>
                <a:latin typeface="Georgia" pitchFamily="34" charset="0"/>
                <a:ea typeface="Georgia" pitchFamily="34" charset="-122"/>
                <a:cs typeface="Georgia" pitchFamily="34" charset="-120"/>
              </a:rPr>
              <a:t>Risk</a:t>
            </a:r>
            <a:endParaRPr lang="en-US" sz="1700" dirty="0"/>
          </a:p>
        </p:txBody>
      </p:sp>
      <p:sp>
        <p:nvSpPr>
          <p:cNvPr id="19" name="Text 17"/>
          <p:cNvSpPr/>
          <p:nvPr/>
        </p:nvSpPr>
        <p:spPr>
          <a:xfrm>
            <a:off x="3557016" y="2926080"/>
            <a:ext cx="2212848" cy="457200"/>
          </a:xfrm>
          <a:prstGeom prst="rect">
            <a:avLst/>
          </a:prstGeom>
          <a:noFill/>
          <a:ln/>
        </p:spPr>
        <p:txBody>
          <a:bodyPr wrap="square" lIns="0" tIns="0" rIns="0" bIns="0" rtlCol="0" anchor="t"/>
          <a:lstStyle/>
          <a:p>
            <a:pPr marL="0" indent="0" algn="l">
              <a:lnSpc>
                <a:spcPct val="100000"/>
              </a:lnSpc>
              <a:buNone/>
            </a:pPr>
            <a:r>
              <a:rPr lang="en-US" sz="1150" b="1" dirty="0">
                <a:solidFill>
                  <a:srgbClr val="B07B33"/>
                </a:solidFill>
                <a:latin typeface="Calibri" pitchFamily="34" charset="0"/>
                <a:ea typeface="Calibri" pitchFamily="34" charset="-122"/>
                <a:cs typeface="Calibri" pitchFamily="34" charset="-120"/>
              </a:rPr>
              <a:t>Taken knowingly, surfaced sooner</a:t>
            </a:r>
            <a:endParaRPr lang="en-US" sz="1150" dirty="0"/>
          </a:p>
        </p:txBody>
      </p:sp>
      <p:sp>
        <p:nvSpPr>
          <p:cNvPr id="20" name="Text 18"/>
          <p:cNvSpPr/>
          <p:nvPr/>
        </p:nvSpPr>
        <p:spPr>
          <a:xfrm>
            <a:off x="3557016" y="3401568"/>
            <a:ext cx="2212848" cy="658368"/>
          </a:xfrm>
          <a:prstGeom prst="rect">
            <a:avLst/>
          </a:prstGeom>
          <a:noFill/>
          <a:ln/>
        </p:spPr>
        <p:txBody>
          <a:bodyPr wrap="square" lIns="0" tIns="0" rIns="0" bIns="0" rtlCol="0" anchor="t"/>
          <a:lstStyle/>
          <a:p>
            <a:pPr marL="0" indent="0" algn="l">
              <a:lnSpc>
                <a:spcPct val="102000"/>
              </a:lnSpc>
              <a:buNone/>
            </a:pPr>
            <a:r>
              <a:rPr lang="en-US" sz="1050" dirty="0">
                <a:solidFill>
                  <a:srgbClr val="4A423A"/>
                </a:solidFill>
                <a:latin typeface="Calibri" pitchFamily="34" charset="0"/>
                <a:ea typeface="Calibri" pitchFamily="34" charset="-122"/>
                <a:cs typeface="Calibri" pitchFamily="34" charset="-120"/>
              </a:rPr>
              <a:t>Governance sets the guardrails; delivery sends the early signals. Assurance turns from a backward-looking check into a forward-looking capability.</a:t>
            </a:r>
            <a:endParaRPr lang="en-US" sz="1050" dirty="0"/>
          </a:p>
        </p:txBody>
      </p:sp>
      <p:sp>
        <p:nvSpPr>
          <p:cNvPr id="21" name="Shape 19"/>
          <p:cNvSpPr/>
          <p:nvPr/>
        </p:nvSpPr>
        <p:spPr>
          <a:xfrm>
            <a:off x="6126480" y="2176272"/>
            <a:ext cx="2651760" cy="1938528"/>
          </a:xfrm>
          <a:prstGeom prst="rect">
            <a:avLst/>
          </a:prstGeom>
          <a:solidFill>
            <a:srgbClr val="FFFFFF"/>
          </a:solidFill>
          <a:ln w="12700">
            <a:solidFill>
              <a:srgbClr val="E4DACA"/>
            </a:solidFill>
            <a:prstDash val="solid"/>
          </a:ln>
          <a:effectLst>
            <a:outerShdw blurRad="88900" dist="38100" dir="5400000" algn="bl" rotWithShape="0">
              <a:srgbClr val="6B5E4A">
                <a:alpha val="18000"/>
              </a:srgbClr>
            </a:outerShdw>
          </a:effectLst>
        </p:spPr>
        <p:txBody>
          <a:bodyPr/>
          <a:lstStyle/>
          <a:p>
            <a:endParaRPr lang="en-AU"/>
          </a:p>
        </p:txBody>
      </p:sp>
      <p:sp>
        <p:nvSpPr>
          <p:cNvPr id="22" name="Shape 20"/>
          <p:cNvSpPr/>
          <p:nvPr/>
        </p:nvSpPr>
        <p:spPr>
          <a:xfrm>
            <a:off x="6345936" y="2377440"/>
            <a:ext cx="457200" cy="457200"/>
          </a:xfrm>
          <a:prstGeom prst="ellipse">
            <a:avLst/>
          </a:prstGeom>
          <a:solidFill>
            <a:srgbClr val="B0533F"/>
          </a:solidFill>
          <a:ln/>
        </p:spPr>
        <p:txBody>
          <a:bodyPr/>
          <a:lstStyle/>
          <a:p>
            <a:endParaRPr lang="en-AU"/>
          </a:p>
        </p:txBody>
      </p:sp>
      <p:sp>
        <p:nvSpPr>
          <p:cNvPr id="23" name="Text 21"/>
          <p:cNvSpPr/>
          <p:nvPr/>
        </p:nvSpPr>
        <p:spPr>
          <a:xfrm>
            <a:off x="6345936" y="2377440"/>
            <a:ext cx="457200" cy="457200"/>
          </a:xfrm>
          <a:prstGeom prst="rect">
            <a:avLst/>
          </a:prstGeom>
          <a:noFill/>
          <a:ln/>
        </p:spPr>
        <p:txBody>
          <a:bodyPr wrap="square" lIns="0" tIns="0" rIns="0" bIns="0" rtlCol="0" anchor="ctr"/>
          <a:lstStyle/>
          <a:p>
            <a:pPr marL="0" indent="0" algn="ctr">
              <a:buNone/>
            </a:pPr>
            <a:r>
              <a:rPr lang="en-US" sz="1700" b="1" dirty="0">
                <a:solidFill>
                  <a:srgbClr val="F6EFE4"/>
                </a:solidFill>
                <a:latin typeface="Georgia" pitchFamily="34" charset="0"/>
                <a:ea typeface="Georgia" pitchFamily="34" charset="-122"/>
                <a:cs typeface="Georgia" pitchFamily="34" charset="-120"/>
              </a:rPr>
              <a:t>V</a:t>
            </a:r>
            <a:endParaRPr lang="en-US" sz="1700" dirty="0"/>
          </a:p>
        </p:txBody>
      </p:sp>
      <p:sp>
        <p:nvSpPr>
          <p:cNvPr id="24" name="Text 22"/>
          <p:cNvSpPr/>
          <p:nvPr/>
        </p:nvSpPr>
        <p:spPr>
          <a:xfrm>
            <a:off x="6912864" y="2395728"/>
            <a:ext cx="1737360" cy="420624"/>
          </a:xfrm>
          <a:prstGeom prst="rect">
            <a:avLst/>
          </a:prstGeom>
          <a:noFill/>
          <a:ln/>
        </p:spPr>
        <p:txBody>
          <a:bodyPr wrap="square" lIns="0" tIns="0" rIns="0" bIns="0" rtlCol="0" anchor="ctr"/>
          <a:lstStyle/>
          <a:p>
            <a:pPr marL="0" indent="0">
              <a:buNone/>
            </a:pPr>
            <a:r>
              <a:rPr lang="en-US" sz="1700" b="1" dirty="0">
                <a:solidFill>
                  <a:srgbClr val="2A2520"/>
                </a:solidFill>
                <a:latin typeface="Georgia" pitchFamily="34" charset="0"/>
                <a:ea typeface="Georgia" pitchFamily="34" charset="-122"/>
                <a:cs typeface="Georgia" pitchFamily="34" charset="-120"/>
              </a:rPr>
              <a:t>Value</a:t>
            </a:r>
            <a:endParaRPr lang="en-US" sz="1700" dirty="0"/>
          </a:p>
        </p:txBody>
      </p:sp>
      <p:sp>
        <p:nvSpPr>
          <p:cNvPr id="25" name="Text 23"/>
          <p:cNvSpPr/>
          <p:nvPr/>
        </p:nvSpPr>
        <p:spPr>
          <a:xfrm>
            <a:off x="6345936" y="2926080"/>
            <a:ext cx="2212848" cy="457200"/>
          </a:xfrm>
          <a:prstGeom prst="rect">
            <a:avLst/>
          </a:prstGeom>
          <a:noFill/>
          <a:ln/>
        </p:spPr>
        <p:txBody>
          <a:bodyPr wrap="square" lIns="0" tIns="0" rIns="0" bIns="0" rtlCol="0" anchor="t"/>
          <a:lstStyle/>
          <a:p>
            <a:pPr marL="0" indent="0" algn="l">
              <a:lnSpc>
                <a:spcPct val="100000"/>
              </a:lnSpc>
              <a:buNone/>
            </a:pPr>
            <a:r>
              <a:rPr lang="en-US" sz="1150" b="1" dirty="0">
                <a:solidFill>
                  <a:srgbClr val="B0533F"/>
                </a:solidFill>
                <a:latin typeface="Calibri" pitchFamily="34" charset="0"/>
                <a:ea typeface="Calibri" pitchFamily="34" charset="-122"/>
                <a:cs typeface="Calibri" pitchFamily="34" charset="-120"/>
              </a:rPr>
              <a:t>Compounds instead of leaking away</a:t>
            </a:r>
            <a:endParaRPr lang="en-US" sz="1150" dirty="0"/>
          </a:p>
        </p:txBody>
      </p:sp>
      <p:sp>
        <p:nvSpPr>
          <p:cNvPr id="26" name="Text 24"/>
          <p:cNvSpPr/>
          <p:nvPr/>
        </p:nvSpPr>
        <p:spPr>
          <a:xfrm>
            <a:off x="6345936" y="3401568"/>
            <a:ext cx="2212848" cy="658368"/>
          </a:xfrm>
          <a:prstGeom prst="rect">
            <a:avLst/>
          </a:prstGeom>
          <a:noFill/>
          <a:ln/>
        </p:spPr>
        <p:txBody>
          <a:bodyPr wrap="square" lIns="0" tIns="0" rIns="0" bIns="0" rtlCol="0" anchor="t"/>
          <a:lstStyle/>
          <a:p>
            <a:pPr marL="0" indent="0" algn="l">
              <a:lnSpc>
                <a:spcPct val="102000"/>
              </a:lnSpc>
              <a:buNone/>
            </a:pPr>
            <a:r>
              <a:rPr lang="en-US" sz="1050" dirty="0">
                <a:solidFill>
                  <a:srgbClr val="4A423A"/>
                </a:solidFill>
                <a:latin typeface="Calibri" pitchFamily="34" charset="0"/>
                <a:ea typeface="Calibri" pitchFamily="34" charset="-122"/>
                <a:cs typeface="Calibri" pitchFamily="34" charset="-120"/>
              </a:rPr>
              <a:t>Every initiative has a clear outcome and a clear owner, so investment compounds — built on consistency, not the occasional flash of brilliance.</a:t>
            </a:r>
            <a:endParaRPr lang="en-US" sz="1050" dirty="0"/>
          </a:p>
        </p:txBody>
      </p:sp>
      <p:sp>
        <p:nvSpPr>
          <p:cNvPr id="27" name="Text 25"/>
          <p:cNvSpPr/>
          <p:nvPr/>
        </p:nvSpPr>
        <p:spPr>
          <a:xfrm>
            <a:off x="548640" y="4242816"/>
            <a:ext cx="8046720" cy="310896"/>
          </a:xfrm>
          <a:prstGeom prst="rect">
            <a:avLst/>
          </a:prstGeom>
          <a:noFill/>
          <a:ln/>
        </p:spPr>
        <p:txBody>
          <a:bodyPr wrap="square" lIns="0" tIns="0" rIns="0" bIns="0" rtlCol="0" anchor="ctr"/>
          <a:lstStyle/>
          <a:p>
            <a:pPr marL="0" indent="0" algn="ctr">
              <a:buNone/>
            </a:pPr>
            <a:r>
              <a:rPr lang="en-US" sz="1150" i="1" dirty="0">
                <a:solidFill>
                  <a:srgbClr val="2A2520"/>
                </a:solidFill>
                <a:latin typeface="Calibri" pitchFamily="34" charset="0"/>
                <a:ea typeface="Calibri" pitchFamily="34" charset="-122"/>
                <a:cs typeface="Calibri" pitchFamily="34" charset="-120"/>
              </a:rPr>
              <a:t>For portfolio and PMO leaders, the edge comes from holding all three together — so intent, assurance and execution move as one.</a:t>
            </a:r>
            <a:r>
              <a:rPr lang="en-US" sz="800" b="1" i="1" baseline="30000" dirty="0">
                <a:solidFill>
                  <a:srgbClr val="B0533F"/>
                </a:solidFill>
                <a:latin typeface="Calibri" pitchFamily="34" charset="0"/>
                <a:ea typeface="Calibri" pitchFamily="34" charset="-122"/>
                <a:cs typeface="Calibri" pitchFamily="34" charset="-120"/>
              </a:rPr>
              <a:t> 4</a:t>
            </a:r>
            <a:endParaRPr lang="en-US" sz="1150" dirty="0"/>
          </a:p>
        </p:txBody>
      </p:sp>
      <p:sp>
        <p:nvSpPr>
          <p:cNvPr id="28" name="Text 26"/>
          <p:cNvSpPr/>
          <p:nvPr/>
        </p:nvSpPr>
        <p:spPr>
          <a:xfrm>
            <a:off x="548640" y="4882896"/>
            <a:ext cx="7589520" cy="201168"/>
          </a:xfrm>
          <a:prstGeom prst="rect">
            <a:avLst/>
          </a:prstGeom>
          <a:noFill/>
          <a:ln/>
        </p:spPr>
        <p:txBody>
          <a:bodyPr wrap="square" lIns="0" tIns="0" rIns="0" bIns="0" rtlCol="0" anchor="ctr"/>
          <a:lstStyle/>
          <a:p>
            <a:pPr marL="0" indent="0" algn="l">
              <a:buNone/>
            </a:pPr>
            <a:r>
              <a:rPr lang="en-US" sz="750" b="1" dirty="0">
                <a:solidFill>
                  <a:srgbClr val="B0533F"/>
                </a:solidFill>
                <a:latin typeface="Calibri" pitchFamily="34" charset="0"/>
                <a:ea typeface="Calibri" pitchFamily="34" charset="-122"/>
                <a:cs typeface="Calibri" pitchFamily="34" charset="-120"/>
              </a:rPr>
              <a:t>3  </a:t>
            </a:r>
            <a:r>
              <a:rPr lang="en-US" sz="750" dirty="0">
                <a:solidFill>
                  <a:srgbClr val="9A8E7C"/>
                </a:solidFill>
                <a:latin typeface="Calibri" pitchFamily="34" charset="0"/>
                <a:ea typeface="Calibri" pitchFamily="34" charset="-122"/>
                <a:cs typeface="Calibri" pitchFamily="34" charset="-120"/>
              </a:rPr>
              <a:t>PMI, Step Up: Redefining the Path to Project Success (2025).     </a:t>
            </a:r>
            <a:r>
              <a:rPr lang="en-US" sz="750" b="1" dirty="0">
                <a:solidFill>
                  <a:srgbClr val="B0533F"/>
                </a:solidFill>
                <a:latin typeface="Calibri" pitchFamily="34" charset="0"/>
                <a:ea typeface="Calibri" pitchFamily="34" charset="-122"/>
                <a:cs typeface="Calibri" pitchFamily="34" charset="-120"/>
              </a:rPr>
              <a:t>4  </a:t>
            </a:r>
            <a:r>
              <a:rPr lang="en-US" sz="750" dirty="0">
                <a:solidFill>
                  <a:srgbClr val="9A8E7C"/>
                </a:solidFill>
                <a:latin typeface="Calibri" pitchFamily="34" charset="0"/>
                <a:ea typeface="Calibri" pitchFamily="34" charset="-122"/>
                <a:cs typeface="Calibri" pitchFamily="34" charset="-120"/>
              </a:rPr>
              <a:t>PMI, Governance of Portfolios, Programs &amp; Projects (2015).</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41E1A"/>
        </a:solidFill>
        <a:effectLst/>
      </p:bgPr>
    </p:bg>
    <p:spTree>
      <p:nvGrpSpPr>
        <p:cNvPr id="1" name=""/>
        <p:cNvGrpSpPr/>
        <p:nvPr/>
      </p:nvGrpSpPr>
      <p:grpSpPr>
        <a:xfrm>
          <a:off x="0" y="0"/>
          <a:ext cx="0" cy="0"/>
          <a:chOff x="0" y="0"/>
          <a:chExt cx="0" cy="0"/>
        </a:xfrm>
      </p:grpSpPr>
      <p:sp>
        <p:nvSpPr>
          <p:cNvPr id="2" name="Text 0"/>
          <p:cNvSpPr/>
          <p:nvPr/>
        </p:nvSpPr>
        <p:spPr>
          <a:xfrm>
            <a:off x="548640" y="292608"/>
            <a:ext cx="5669280" cy="274320"/>
          </a:xfrm>
          <a:prstGeom prst="rect">
            <a:avLst/>
          </a:prstGeom>
          <a:noFill/>
          <a:ln/>
        </p:spPr>
        <p:txBody>
          <a:bodyPr wrap="square" lIns="0" tIns="0" rIns="0" bIns="0" rtlCol="0" anchor="ctr"/>
          <a:lstStyle/>
          <a:p>
            <a:pPr marL="0" indent="0" algn="l">
              <a:buNone/>
            </a:pPr>
            <a:r>
              <a:rPr lang="en-US" sz="850" b="1" kern="0" spc="150" dirty="0">
                <a:solidFill>
                  <a:srgbClr val="CFC4B3"/>
                </a:solidFill>
                <a:latin typeface="Calibri" pitchFamily="34" charset="0"/>
                <a:ea typeface="Calibri" pitchFamily="34" charset="-122"/>
                <a:cs typeface="Calibri" pitchFamily="34" charset="-120"/>
              </a:rPr>
              <a:t>BRIDGING STRATEGY, GOVERNANCE &amp; DELIVERY</a:t>
            </a:r>
            <a:endParaRPr lang="en-US" sz="850" dirty="0"/>
          </a:p>
        </p:txBody>
      </p:sp>
      <p:sp>
        <p:nvSpPr>
          <p:cNvPr id="3" name="Text 1"/>
          <p:cNvSpPr/>
          <p:nvPr/>
        </p:nvSpPr>
        <p:spPr>
          <a:xfrm>
            <a:off x="6126480" y="292608"/>
            <a:ext cx="2468880" cy="274320"/>
          </a:xfrm>
          <a:prstGeom prst="rect">
            <a:avLst/>
          </a:prstGeom>
          <a:noFill/>
          <a:ln/>
        </p:spPr>
        <p:txBody>
          <a:bodyPr wrap="square" lIns="0" tIns="0" rIns="0" bIns="0" rtlCol="0" anchor="ctr"/>
          <a:lstStyle/>
          <a:p>
            <a:pPr marL="0" indent="0" algn="r">
              <a:buNone/>
            </a:pPr>
            <a:r>
              <a:rPr lang="en-US" sz="850" b="1" kern="0" spc="150" dirty="0">
                <a:solidFill>
                  <a:srgbClr val="B07B33"/>
                </a:solidFill>
                <a:latin typeface="Calibri" pitchFamily="34" charset="0"/>
                <a:ea typeface="Calibri" pitchFamily="34" charset="-122"/>
                <a:cs typeface="Calibri" pitchFamily="34" charset="-120"/>
              </a:rPr>
              <a:t>ESSGEE PROJECTS</a:t>
            </a:r>
            <a:endParaRPr lang="en-US" sz="850" dirty="0"/>
          </a:p>
        </p:txBody>
      </p:sp>
      <p:sp>
        <p:nvSpPr>
          <p:cNvPr id="4" name="Text 2"/>
          <p:cNvSpPr/>
          <p:nvPr/>
        </p:nvSpPr>
        <p:spPr>
          <a:xfrm>
            <a:off x="8229600" y="4718304"/>
            <a:ext cx="457200" cy="274320"/>
          </a:xfrm>
          <a:prstGeom prst="rect">
            <a:avLst/>
          </a:prstGeom>
          <a:noFill/>
          <a:ln/>
        </p:spPr>
        <p:txBody>
          <a:bodyPr wrap="square" lIns="0" tIns="0" rIns="0" bIns="0" rtlCol="0" anchor="ctr"/>
          <a:lstStyle/>
          <a:p>
            <a:pPr marL="0" indent="0" algn="r">
              <a:buNone/>
            </a:pPr>
            <a:r>
              <a:rPr lang="en-US" sz="900" dirty="0">
                <a:solidFill>
                  <a:srgbClr val="CFC4B3"/>
                </a:solidFill>
                <a:latin typeface="Calibri" pitchFamily="34" charset="0"/>
                <a:ea typeface="Calibri" pitchFamily="34" charset="-122"/>
                <a:cs typeface="Calibri" pitchFamily="34" charset="-120"/>
              </a:rPr>
              <a:t>7</a:t>
            </a:r>
            <a:endParaRPr lang="en-US" sz="900" dirty="0"/>
          </a:p>
        </p:txBody>
      </p:sp>
      <p:sp>
        <p:nvSpPr>
          <p:cNvPr id="5" name="Shape 3"/>
          <p:cNvSpPr/>
          <p:nvPr/>
        </p:nvSpPr>
        <p:spPr>
          <a:xfrm>
            <a:off x="548640" y="603504"/>
            <a:ext cx="8046720" cy="10973"/>
          </a:xfrm>
          <a:prstGeom prst="rect">
            <a:avLst/>
          </a:prstGeom>
          <a:solidFill>
            <a:srgbClr val="3A322B"/>
          </a:solidFill>
          <a:ln/>
        </p:spPr>
        <p:txBody>
          <a:bodyPr/>
          <a:lstStyle/>
          <a:p>
            <a:endParaRPr lang="en-AU"/>
          </a:p>
        </p:txBody>
      </p:sp>
      <p:sp>
        <p:nvSpPr>
          <p:cNvPr id="6" name="Text 4"/>
          <p:cNvSpPr/>
          <p:nvPr/>
        </p:nvSpPr>
        <p:spPr>
          <a:xfrm>
            <a:off x="548640" y="786384"/>
            <a:ext cx="8046720" cy="274320"/>
          </a:xfrm>
          <a:prstGeom prst="rect">
            <a:avLst/>
          </a:prstGeom>
          <a:noFill/>
          <a:ln/>
        </p:spPr>
        <p:txBody>
          <a:bodyPr wrap="square" lIns="0" tIns="0" rIns="0" bIns="0" rtlCol="0" anchor="ctr"/>
          <a:lstStyle/>
          <a:p>
            <a:pPr marL="0" indent="0" algn="l">
              <a:buNone/>
            </a:pPr>
            <a:r>
              <a:rPr lang="en-US" sz="1150" b="1" kern="0" spc="200" dirty="0">
                <a:solidFill>
                  <a:srgbClr val="B07B33"/>
                </a:solidFill>
                <a:latin typeface="Calibri" pitchFamily="34" charset="0"/>
                <a:ea typeface="Calibri" pitchFamily="34" charset="-122"/>
                <a:cs typeface="Calibri" pitchFamily="34" charset="-120"/>
              </a:rPr>
              <a:t>CONCLUSION</a:t>
            </a:r>
            <a:endParaRPr lang="en-US" sz="1150" dirty="0"/>
          </a:p>
        </p:txBody>
      </p:sp>
      <p:sp>
        <p:nvSpPr>
          <p:cNvPr id="7" name="Text 0"/>
          <p:cNvSpPr>
            <a:spLocks noGrp="1"/>
          </p:cNvSpPr>
          <p:nvPr>
            <p:ph type="title" idx="100" hasCustomPrompt="1"/>
          </p:nvPr>
        </p:nvSpPr>
        <p:spPr>
          <a:xfrm>
            <a:off x="548640" y="914400"/>
            <a:ext cx="8046720" cy="731520"/>
          </a:xfrm>
          <a:prstGeom prst="rect">
            <a:avLst/>
          </a:prstGeom>
          <a:noFill/>
          <a:ln/>
        </p:spPr>
        <p:txBody>
          <a:bodyPr wrap="square" lIns="0" tIns="0" rIns="0" bIns="0" rtlCol="0" anchor="ctr"/>
          <a:lstStyle/>
          <a:p>
            <a:pPr marL="0" indent="0" algn="l">
              <a:buNone/>
            </a:pPr>
            <a:r>
              <a:rPr lang="en-US" sz="2700" b="1" dirty="0">
                <a:solidFill>
                  <a:srgbClr val="F6EFE4"/>
                </a:solidFill>
                <a:latin typeface="Georgia" pitchFamily="34" charset="0"/>
                <a:ea typeface="Georgia" pitchFamily="34" charset="-122"/>
                <a:cs typeface="Georgia" pitchFamily="34" charset="-120"/>
              </a:rPr>
              <a:t>The bridge is the work</a:t>
            </a:r>
            <a:endParaRPr lang="en-US" sz="2700" dirty="0"/>
          </a:p>
        </p:txBody>
      </p:sp>
      <p:sp>
        <p:nvSpPr>
          <p:cNvPr id="8" name="Text 6"/>
          <p:cNvSpPr/>
          <p:nvPr/>
        </p:nvSpPr>
        <p:spPr>
          <a:xfrm>
            <a:off x="548640" y="1828800"/>
            <a:ext cx="4709160" cy="2103120"/>
          </a:xfrm>
          <a:prstGeom prst="rect">
            <a:avLst/>
          </a:prstGeom>
          <a:noFill/>
          <a:ln/>
        </p:spPr>
        <p:txBody>
          <a:bodyPr wrap="square" lIns="0" tIns="0" rIns="0" bIns="0" rtlCol="0" anchor="t"/>
          <a:lstStyle/>
          <a:p>
            <a:pPr marL="0" indent="0" algn="l">
              <a:lnSpc>
                <a:spcPct val="106000"/>
              </a:lnSpc>
              <a:spcAft>
                <a:spcPts val="900"/>
              </a:spcAft>
              <a:buNone/>
            </a:pPr>
            <a:r>
              <a:rPr lang="en-US" sz="1250" dirty="0">
                <a:solidFill>
                  <a:srgbClr val="CFC4B3"/>
                </a:solidFill>
                <a:latin typeface="Calibri" pitchFamily="34" charset="0"/>
                <a:ea typeface="Calibri" pitchFamily="34" charset="-122"/>
                <a:cs typeface="Calibri" pitchFamily="34" charset="-120"/>
              </a:rPr>
              <a:t>Too often the three sit in separate corners, held together by little more than goodwill. The organisations that keep growing, governing well and delivering are the ones that close those gaps — pulling the three into one operating model where each makes the others stronger.</a:t>
            </a:r>
            <a:endParaRPr lang="en-US" sz="1250" dirty="0"/>
          </a:p>
          <a:p>
            <a:pPr marL="0" indent="0" algn="l">
              <a:lnSpc>
                <a:spcPct val="106000"/>
              </a:lnSpc>
              <a:buNone/>
            </a:pPr>
            <a:r>
              <a:rPr lang="en-US" sz="1250" dirty="0">
                <a:solidFill>
                  <a:srgbClr val="CFC4B3"/>
                </a:solidFill>
                <a:latin typeface="Calibri" pitchFamily="34" charset="0"/>
                <a:ea typeface="Calibri" pitchFamily="34" charset="-122"/>
                <a:cs typeface="Calibri" pitchFamily="34" charset="-120"/>
              </a:rPr>
              <a:t>That is the idea at the heart of ESSGEE Projects: lasting performance comes not from any single discipline, but from the bridges you build between them.</a:t>
            </a:r>
            <a:endParaRPr lang="en-US" sz="1250" dirty="0"/>
          </a:p>
        </p:txBody>
      </p:sp>
      <p:sp>
        <p:nvSpPr>
          <p:cNvPr id="9" name="Shape 7"/>
          <p:cNvSpPr/>
          <p:nvPr/>
        </p:nvSpPr>
        <p:spPr>
          <a:xfrm>
            <a:off x="640080" y="3913632"/>
            <a:ext cx="4480560" cy="82296"/>
          </a:xfrm>
          <a:prstGeom prst="rect">
            <a:avLst/>
          </a:prstGeom>
          <a:solidFill>
            <a:srgbClr val="B07B33"/>
          </a:solidFill>
          <a:ln/>
        </p:spPr>
        <p:txBody>
          <a:bodyPr/>
          <a:lstStyle/>
          <a:p>
            <a:endParaRPr lang="en-AU"/>
          </a:p>
        </p:txBody>
      </p:sp>
      <p:sp>
        <p:nvSpPr>
          <p:cNvPr id="10" name="Shape 8"/>
          <p:cNvSpPr/>
          <p:nvPr/>
        </p:nvSpPr>
        <p:spPr>
          <a:xfrm>
            <a:off x="1051560" y="3995928"/>
            <a:ext cx="310896" cy="566928"/>
          </a:xfrm>
          <a:prstGeom prst="rect">
            <a:avLst/>
          </a:prstGeom>
          <a:solidFill>
            <a:srgbClr val="7C8A6B"/>
          </a:solidFill>
          <a:ln/>
        </p:spPr>
        <p:txBody>
          <a:bodyPr/>
          <a:lstStyle/>
          <a:p>
            <a:endParaRPr lang="en-AU"/>
          </a:p>
        </p:txBody>
      </p:sp>
      <p:sp>
        <p:nvSpPr>
          <p:cNvPr id="11" name="Text 9"/>
          <p:cNvSpPr/>
          <p:nvPr/>
        </p:nvSpPr>
        <p:spPr>
          <a:xfrm>
            <a:off x="548640" y="4590288"/>
            <a:ext cx="1316736" cy="256032"/>
          </a:xfrm>
          <a:prstGeom prst="rect">
            <a:avLst/>
          </a:prstGeom>
          <a:noFill/>
          <a:ln/>
        </p:spPr>
        <p:txBody>
          <a:bodyPr wrap="square" lIns="0" tIns="0" rIns="0" bIns="0" rtlCol="0" anchor="ctr"/>
          <a:lstStyle/>
          <a:p>
            <a:pPr marL="0" indent="0" algn="ctr">
              <a:buNone/>
            </a:pPr>
            <a:r>
              <a:rPr lang="en-US" sz="1000" b="1" dirty="0">
                <a:solidFill>
                  <a:srgbClr val="F6EFE4"/>
                </a:solidFill>
                <a:latin typeface="Calibri" pitchFamily="34" charset="0"/>
                <a:ea typeface="Calibri" pitchFamily="34" charset="-122"/>
                <a:cs typeface="Calibri" pitchFamily="34" charset="-120"/>
              </a:rPr>
              <a:t>Strategy</a:t>
            </a:r>
            <a:endParaRPr lang="en-US" sz="1000" dirty="0"/>
          </a:p>
        </p:txBody>
      </p:sp>
      <p:sp>
        <p:nvSpPr>
          <p:cNvPr id="12" name="Shape 10"/>
          <p:cNvSpPr/>
          <p:nvPr/>
        </p:nvSpPr>
        <p:spPr>
          <a:xfrm>
            <a:off x="2651760" y="3995928"/>
            <a:ext cx="310896" cy="566928"/>
          </a:xfrm>
          <a:prstGeom prst="rect">
            <a:avLst/>
          </a:prstGeom>
          <a:solidFill>
            <a:srgbClr val="B07B33"/>
          </a:solidFill>
          <a:ln/>
        </p:spPr>
        <p:txBody>
          <a:bodyPr/>
          <a:lstStyle/>
          <a:p>
            <a:endParaRPr lang="en-AU"/>
          </a:p>
        </p:txBody>
      </p:sp>
      <p:sp>
        <p:nvSpPr>
          <p:cNvPr id="13" name="Text 11"/>
          <p:cNvSpPr/>
          <p:nvPr/>
        </p:nvSpPr>
        <p:spPr>
          <a:xfrm>
            <a:off x="2148840" y="4590288"/>
            <a:ext cx="1316736" cy="256032"/>
          </a:xfrm>
          <a:prstGeom prst="rect">
            <a:avLst/>
          </a:prstGeom>
          <a:noFill/>
          <a:ln/>
        </p:spPr>
        <p:txBody>
          <a:bodyPr wrap="square" lIns="0" tIns="0" rIns="0" bIns="0" rtlCol="0" anchor="ctr"/>
          <a:lstStyle/>
          <a:p>
            <a:pPr marL="0" indent="0" algn="ctr">
              <a:buNone/>
            </a:pPr>
            <a:r>
              <a:rPr lang="en-US" sz="1000" b="1" dirty="0">
                <a:solidFill>
                  <a:srgbClr val="F6EFE4"/>
                </a:solidFill>
                <a:latin typeface="Calibri" pitchFamily="34" charset="0"/>
                <a:ea typeface="Calibri" pitchFamily="34" charset="-122"/>
                <a:cs typeface="Calibri" pitchFamily="34" charset="-120"/>
              </a:rPr>
              <a:t>Governance</a:t>
            </a:r>
            <a:endParaRPr lang="en-US" sz="1000" dirty="0"/>
          </a:p>
        </p:txBody>
      </p:sp>
      <p:sp>
        <p:nvSpPr>
          <p:cNvPr id="14" name="Shape 12"/>
          <p:cNvSpPr/>
          <p:nvPr/>
        </p:nvSpPr>
        <p:spPr>
          <a:xfrm>
            <a:off x="4251960" y="3995928"/>
            <a:ext cx="310896" cy="566928"/>
          </a:xfrm>
          <a:prstGeom prst="rect">
            <a:avLst/>
          </a:prstGeom>
          <a:solidFill>
            <a:srgbClr val="B0533F"/>
          </a:solidFill>
          <a:ln/>
        </p:spPr>
        <p:txBody>
          <a:bodyPr/>
          <a:lstStyle/>
          <a:p>
            <a:endParaRPr lang="en-AU"/>
          </a:p>
        </p:txBody>
      </p:sp>
      <p:sp>
        <p:nvSpPr>
          <p:cNvPr id="15" name="Text 13"/>
          <p:cNvSpPr/>
          <p:nvPr/>
        </p:nvSpPr>
        <p:spPr>
          <a:xfrm>
            <a:off x="3749040" y="4590288"/>
            <a:ext cx="1316736" cy="256032"/>
          </a:xfrm>
          <a:prstGeom prst="rect">
            <a:avLst/>
          </a:prstGeom>
          <a:noFill/>
          <a:ln/>
        </p:spPr>
        <p:txBody>
          <a:bodyPr wrap="square" lIns="0" tIns="0" rIns="0" bIns="0" rtlCol="0" anchor="ctr"/>
          <a:lstStyle/>
          <a:p>
            <a:pPr marL="0" indent="0" algn="ctr">
              <a:buNone/>
            </a:pPr>
            <a:r>
              <a:rPr lang="en-US" sz="1000" b="1" dirty="0">
                <a:solidFill>
                  <a:srgbClr val="F6EFE4"/>
                </a:solidFill>
                <a:latin typeface="Calibri" pitchFamily="34" charset="0"/>
                <a:ea typeface="Calibri" pitchFamily="34" charset="-122"/>
                <a:cs typeface="Calibri" pitchFamily="34" charset="-120"/>
              </a:rPr>
              <a:t>Delivery</a:t>
            </a:r>
            <a:endParaRPr lang="en-US" sz="1000" dirty="0"/>
          </a:p>
        </p:txBody>
      </p:sp>
      <p:sp>
        <p:nvSpPr>
          <p:cNvPr id="16" name="Shape 14"/>
          <p:cNvSpPr/>
          <p:nvPr/>
        </p:nvSpPr>
        <p:spPr>
          <a:xfrm>
            <a:off x="5532120" y="1783080"/>
            <a:ext cx="3063240" cy="2788920"/>
          </a:xfrm>
          <a:prstGeom prst="rect">
            <a:avLst/>
          </a:prstGeom>
          <a:solidFill>
            <a:srgbClr val="2F2822"/>
          </a:solidFill>
          <a:ln w="12700">
            <a:solidFill>
              <a:srgbClr val="463C33"/>
            </a:solidFill>
            <a:prstDash val="solid"/>
          </a:ln>
        </p:spPr>
        <p:txBody>
          <a:bodyPr/>
          <a:lstStyle/>
          <a:p>
            <a:endParaRPr lang="en-AU"/>
          </a:p>
        </p:txBody>
      </p:sp>
      <p:sp>
        <p:nvSpPr>
          <p:cNvPr id="17" name="Shape 15"/>
          <p:cNvSpPr/>
          <p:nvPr/>
        </p:nvSpPr>
        <p:spPr>
          <a:xfrm>
            <a:off x="5532120" y="1783080"/>
            <a:ext cx="3063240" cy="82296"/>
          </a:xfrm>
          <a:prstGeom prst="rect">
            <a:avLst/>
          </a:prstGeom>
          <a:solidFill>
            <a:srgbClr val="B07B33"/>
          </a:solidFill>
          <a:ln/>
        </p:spPr>
        <p:txBody>
          <a:bodyPr/>
          <a:lstStyle/>
          <a:p>
            <a:endParaRPr lang="en-AU"/>
          </a:p>
        </p:txBody>
      </p:sp>
      <p:sp>
        <p:nvSpPr>
          <p:cNvPr id="18" name="Text 16"/>
          <p:cNvSpPr/>
          <p:nvPr/>
        </p:nvSpPr>
        <p:spPr>
          <a:xfrm>
            <a:off x="5751576" y="1975104"/>
            <a:ext cx="2624328" cy="274320"/>
          </a:xfrm>
          <a:prstGeom prst="rect">
            <a:avLst/>
          </a:prstGeom>
          <a:noFill/>
          <a:ln/>
        </p:spPr>
        <p:txBody>
          <a:bodyPr wrap="square" lIns="0" tIns="0" rIns="0" bIns="0" rtlCol="0" anchor="ctr"/>
          <a:lstStyle/>
          <a:p>
            <a:pPr marL="0" indent="0">
              <a:buNone/>
            </a:pPr>
            <a:r>
              <a:rPr lang="en-US" sz="1000" b="1" kern="0" spc="150" dirty="0">
                <a:solidFill>
                  <a:srgbClr val="B07B33"/>
                </a:solidFill>
                <a:latin typeface="Calibri" pitchFamily="34" charset="0"/>
                <a:ea typeface="Calibri" pitchFamily="34" charset="-122"/>
                <a:cs typeface="Calibri" pitchFamily="34" charset="-120"/>
              </a:rPr>
              <a:t>ABOUT THE AUTHOR</a:t>
            </a:r>
            <a:endParaRPr lang="en-US" sz="1000" dirty="0"/>
          </a:p>
        </p:txBody>
      </p:sp>
      <p:sp>
        <p:nvSpPr>
          <p:cNvPr id="19" name="Text 17"/>
          <p:cNvSpPr/>
          <p:nvPr/>
        </p:nvSpPr>
        <p:spPr>
          <a:xfrm>
            <a:off x="5751576" y="2249424"/>
            <a:ext cx="2624328" cy="320040"/>
          </a:xfrm>
          <a:prstGeom prst="rect">
            <a:avLst/>
          </a:prstGeom>
          <a:noFill/>
          <a:ln/>
        </p:spPr>
        <p:txBody>
          <a:bodyPr wrap="square" lIns="0" tIns="0" rIns="0" bIns="0" rtlCol="0" anchor="ctr"/>
          <a:lstStyle/>
          <a:p>
            <a:pPr marL="0" indent="0">
              <a:buNone/>
            </a:pPr>
            <a:r>
              <a:rPr lang="en-US" sz="1700" b="1" dirty="0">
                <a:solidFill>
                  <a:srgbClr val="F6EFE4"/>
                </a:solidFill>
                <a:latin typeface="Georgia" pitchFamily="34" charset="0"/>
                <a:ea typeface="Georgia" pitchFamily="34" charset="-122"/>
                <a:cs typeface="Georgia" pitchFamily="34" charset="-120"/>
              </a:rPr>
              <a:t>Satya Gady</a:t>
            </a:r>
            <a:endParaRPr lang="en-US" sz="1700" dirty="0"/>
          </a:p>
        </p:txBody>
      </p:sp>
      <p:sp>
        <p:nvSpPr>
          <p:cNvPr id="20" name="Text 18"/>
          <p:cNvSpPr/>
          <p:nvPr/>
        </p:nvSpPr>
        <p:spPr>
          <a:xfrm>
            <a:off x="5751576" y="2578608"/>
            <a:ext cx="2624328" cy="384048"/>
          </a:xfrm>
          <a:prstGeom prst="rect">
            <a:avLst/>
          </a:prstGeom>
          <a:noFill/>
          <a:ln/>
        </p:spPr>
        <p:txBody>
          <a:bodyPr wrap="square" lIns="0" tIns="0" rIns="0" bIns="0" rtlCol="0" anchor="t"/>
          <a:lstStyle/>
          <a:p>
            <a:pPr marL="0" indent="0" algn="l">
              <a:lnSpc>
                <a:spcPct val="100000"/>
              </a:lnSpc>
              <a:buNone/>
            </a:pPr>
            <a:r>
              <a:rPr lang="en-US" sz="1000" b="1" dirty="0">
                <a:solidFill>
                  <a:srgbClr val="7C8A6B"/>
                </a:solidFill>
                <a:latin typeface="Calibri" pitchFamily="34" charset="0"/>
                <a:ea typeface="Calibri" pitchFamily="34" charset="-122"/>
                <a:cs typeface="Calibri" pitchFamily="34" charset="-120"/>
              </a:rPr>
              <a:t>MBA, MGPM, CMgr, CPPM, FIML  ·  Founder &amp; Principal Consultant</a:t>
            </a:r>
            <a:endParaRPr lang="en-US" sz="1000" dirty="0"/>
          </a:p>
        </p:txBody>
      </p:sp>
      <p:sp>
        <p:nvSpPr>
          <p:cNvPr id="21" name="Text 19"/>
          <p:cNvSpPr/>
          <p:nvPr/>
        </p:nvSpPr>
        <p:spPr>
          <a:xfrm>
            <a:off x="5751576" y="2999232"/>
            <a:ext cx="2624328" cy="1463040"/>
          </a:xfrm>
          <a:prstGeom prst="rect">
            <a:avLst/>
          </a:prstGeom>
          <a:noFill/>
          <a:ln/>
        </p:spPr>
        <p:txBody>
          <a:bodyPr wrap="square" lIns="0" tIns="0" rIns="0" bIns="0" rtlCol="0" anchor="t"/>
          <a:lstStyle/>
          <a:p>
            <a:pPr marL="0" indent="0" algn="l">
              <a:lnSpc>
                <a:spcPct val="104000"/>
              </a:lnSpc>
              <a:buNone/>
            </a:pPr>
            <a:r>
              <a:rPr lang="en-US" sz="1000" dirty="0">
                <a:solidFill>
                  <a:srgbClr val="CFC4B3"/>
                </a:solidFill>
                <a:latin typeface="Calibri" pitchFamily="34" charset="0"/>
                <a:ea typeface="Calibri" pitchFamily="34" charset="-122"/>
                <a:cs typeface="Calibri" pitchFamily="34" charset="-120"/>
              </a:rPr>
              <a:t>A Chartered Manager, Certified Practising Project Manager and Fellow of the Institute of Managers and Leaders, he has led strategy, governance and delivery across infrastructure, construction, property, energy and major projects.</a:t>
            </a:r>
            <a:endParaRPr lang="en-US" sz="1000" dirty="0"/>
          </a:p>
        </p:txBody>
      </p:sp>
      <p:sp>
        <p:nvSpPr>
          <p:cNvPr id="22" name="Text 20"/>
          <p:cNvSpPr/>
          <p:nvPr/>
        </p:nvSpPr>
        <p:spPr>
          <a:xfrm>
            <a:off x="548640" y="4736592"/>
            <a:ext cx="4663440" cy="274320"/>
          </a:xfrm>
          <a:prstGeom prst="rect">
            <a:avLst/>
          </a:prstGeom>
          <a:noFill/>
          <a:ln/>
        </p:spPr>
        <p:txBody>
          <a:bodyPr wrap="square" lIns="0" tIns="0" rIns="0" bIns="0" rtlCol="0" anchor="ctr"/>
          <a:lstStyle/>
          <a:p>
            <a:pPr marL="0" indent="0" algn="l">
              <a:buNone/>
            </a:pPr>
            <a:r>
              <a:rPr lang="en-US" sz="950" b="1" i="1" kern="0" spc="100" dirty="0">
                <a:solidFill>
                  <a:srgbClr val="B07B33"/>
                </a:solidFill>
                <a:latin typeface="Calibri" pitchFamily="34" charset="0"/>
                <a:ea typeface="Calibri" pitchFamily="34" charset="-122"/>
                <a:cs typeface="Calibri" pitchFamily="34" charset="-120"/>
              </a:rPr>
              <a:t>SUSTAINABILITY THROUGH STRATEGY</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3EA"/>
        </a:solidFill>
        <a:effectLst/>
      </p:bgPr>
    </p:bg>
    <p:spTree>
      <p:nvGrpSpPr>
        <p:cNvPr id="1" name=""/>
        <p:cNvGrpSpPr/>
        <p:nvPr/>
      </p:nvGrpSpPr>
      <p:grpSpPr>
        <a:xfrm>
          <a:off x="0" y="0"/>
          <a:ext cx="0" cy="0"/>
          <a:chOff x="0" y="0"/>
          <a:chExt cx="0" cy="0"/>
        </a:xfrm>
      </p:grpSpPr>
      <p:sp>
        <p:nvSpPr>
          <p:cNvPr id="2" name="Text 0"/>
          <p:cNvSpPr/>
          <p:nvPr/>
        </p:nvSpPr>
        <p:spPr>
          <a:xfrm>
            <a:off x="548640" y="292608"/>
            <a:ext cx="5669280" cy="274320"/>
          </a:xfrm>
          <a:prstGeom prst="rect">
            <a:avLst/>
          </a:prstGeom>
          <a:noFill/>
          <a:ln/>
        </p:spPr>
        <p:txBody>
          <a:bodyPr wrap="square" lIns="0" tIns="0" rIns="0" bIns="0" rtlCol="0" anchor="ctr"/>
          <a:lstStyle/>
          <a:p>
            <a:pPr marL="0" indent="0" algn="l">
              <a:buNone/>
            </a:pPr>
            <a:r>
              <a:rPr lang="en-US" sz="850" b="1" kern="0" spc="150" dirty="0">
                <a:solidFill>
                  <a:srgbClr val="7C8A6B"/>
                </a:solidFill>
                <a:latin typeface="Calibri" pitchFamily="34" charset="0"/>
                <a:ea typeface="Calibri" pitchFamily="34" charset="-122"/>
                <a:cs typeface="Calibri" pitchFamily="34" charset="-120"/>
              </a:rPr>
              <a:t>BRIDGING STRATEGY, GOVERNANCE &amp; DELIVERY</a:t>
            </a:r>
            <a:endParaRPr lang="en-US" sz="850" dirty="0"/>
          </a:p>
        </p:txBody>
      </p:sp>
      <p:sp>
        <p:nvSpPr>
          <p:cNvPr id="3" name="Text 1"/>
          <p:cNvSpPr/>
          <p:nvPr/>
        </p:nvSpPr>
        <p:spPr>
          <a:xfrm>
            <a:off x="6126480" y="292608"/>
            <a:ext cx="2468880" cy="274320"/>
          </a:xfrm>
          <a:prstGeom prst="rect">
            <a:avLst/>
          </a:prstGeom>
          <a:noFill/>
          <a:ln/>
        </p:spPr>
        <p:txBody>
          <a:bodyPr wrap="square" lIns="0" tIns="0" rIns="0" bIns="0" rtlCol="0" anchor="ctr"/>
          <a:lstStyle/>
          <a:p>
            <a:pPr marL="0" indent="0" algn="r">
              <a:buNone/>
            </a:pPr>
            <a:r>
              <a:rPr lang="en-US" sz="850" b="1" kern="0" spc="150" dirty="0">
                <a:solidFill>
                  <a:srgbClr val="B07B33"/>
                </a:solidFill>
                <a:latin typeface="Calibri" pitchFamily="34" charset="0"/>
                <a:ea typeface="Calibri" pitchFamily="34" charset="-122"/>
                <a:cs typeface="Calibri" pitchFamily="34" charset="-120"/>
              </a:rPr>
              <a:t>ESSGEE PROJECTS</a:t>
            </a:r>
            <a:endParaRPr lang="en-US" sz="850" dirty="0"/>
          </a:p>
        </p:txBody>
      </p:sp>
      <p:sp>
        <p:nvSpPr>
          <p:cNvPr id="4" name="Text 2"/>
          <p:cNvSpPr/>
          <p:nvPr/>
        </p:nvSpPr>
        <p:spPr>
          <a:xfrm>
            <a:off x="8229600" y="4718304"/>
            <a:ext cx="457200" cy="274320"/>
          </a:xfrm>
          <a:prstGeom prst="rect">
            <a:avLst/>
          </a:prstGeom>
          <a:noFill/>
          <a:ln/>
        </p:spPr>
        <p:txBody>
          <a:bodyPr wrap="square" lIns="0" tIns="0" rIns="0" bIns="0" rtlCol="0" anchor="ctr"/>
          <a:lstStyle/>
          <a:p>
            <a:pPr marL="0" indent="0" algn="r">
              <a:buNone/>
            </a:pPr>
            <a:r>
              <a:rPr lang="en-US" sz="900" dirty="0">
                <a:solidFill>
                  <a:srgbClr val="9A8E7C"/>
                </a:solidFill>
                <a:latin typeface="Calibri" pitchFamily="34" charset="0"/>
                <a:ea typeface="Calibri" pitchFamily="34" charset="-122"/>
                <a:cs typeface="Calibri" pitchFamily="34" charset="-120"/>
              </a:rPr>
              <a:t>8</a:t>
            </a:r>
            <a:endParaRPr lang="en-US" sz="900" dirty="0"/>
          </a:p>
        </p:txBody>
      </p:sp>
      <p:sp>
        <p:nvSpPr>
          <p:cNvPr id="5" name="Shape 3"/>
          <p:cNvSpPr/>
          <p:nvPr/>
        </p:nvSpPr>
        <p:spPr>
          <a:xfrm>
            <a:off x="548640" y="603504"/>
            <a:ext cx="8046720" cy="10973"/>
          </a:xfrm>
          <a:prstGeom prst="rect">
            <a:avLst/>
          </a:prstGeom>
          <a:solidFill>
            <a:srgbClr val="E4DACA"/>
          </a:solidFill>
          <a:ln/>
        </p:spPr>
        <p:txBody>
          <a:bodyPr/>
          <a:lstStyle/>
          <a:p>
            <a:endParaRPr lang="en-AU"/>
          </a:p>
        </p:txBody>
      </p:sp>
      <p:sp>
        <p:nvSpPr>
          <p:cNvPr id="6" name="Text 4"/>
          <p:cNvSpPr/>
          <p:nvPr/>
        </p:nvSpPr>
        <p:spPr>
          <a:xfrm>
            <a:off x="548640" y="786384"/>
            <a:ext cx="8046720" cy="274320"/>
          </a:xfrm>
          <a:prstGeom prst="rect">
            <a:avLst/>
          </a:prstGeom>
          <a:noFill/>
          <a:ln/>
        </p:spPr>
        <p:txBody>
          <a:bodyPr wrap="square" lIns="0" tIns="0" rIns="0" bIns="0" rtlCol="0" anchor="ctr"/>
          <a:lstStyle/>
          <a:p>
            <a:pPr marL="0" indent="0" algn="l">
              <a:buNone/>
            </a:pPr>
            <a:r>
              <a:rPr lang="en-US" sz="1150" b="1" kern="0" spc="200" dirty="0">
                <a:solidFill>
                  <a:srgbClr val="B0533F"/>
                </a:solidFill>
                <a:latin typeface="Calibri" pitchFamily="34" charset="0"/>
                <a:ea typeface="Calibri" pitchFamily="34" charset="-122"/>
                <a:cs typeface="Calibri" pitchFamily="34" charset="-120"/>
              </a:rPr>
              <a:t>REFERENCES</a:t>
            </a:r>
            <a:endParaRPr lang="en-US" sz="1150" dirty="0"/>
          </a:p>
        </p:txBody>
      </p:sp>
      <p:sp>
        <p:nvSpPr>
          <p:cNvPr id="7" name="Text 0"/>
          <p:cNvSpPr>
            <a:spLocks noGrp="1"/>
          </p:cNvSpPr>
          <p:nvPr>
            <p:ph type="title" idx="100" hasCustomPrompt="1"/>
          </p:nvPr>
        </p:nvSpPr>
        <p:spPr>
          <a:xfrm>
            <a:off x="548640" y="914400"/>
            <a:ext cx="8046720" cy="731520"/>
          </a:xfrm>
          <a:prstGeom prst="rect">
            <a:avLst/>
          </a:prstGeom>
          <a:noFill/>
          <a:ln/>
        </p:spPr>
        <p:txBody>
          <a:bodyPr wrap="square" lIns="0" tIns="0" rIns="0" bIns="0" rtlCol="0" anchor="ctr"/>
          <a:lstStyle/>
          <a:p>
            <a:pPr marL="0" indent="0" algn="l">
              <a:buNone/>
            </a:pPr>
            <a:r>
              <a:rPr lang="en-US" sz="2700" b="1" dirty="0">
                <a:solidFill>
                  <a:srgbClr val="2A2520"/>
                </a:solidFill>
                <a:latin typeface="Georgia" pitchFamily="34" charset="0"/>
                <a:ea typeface="Georgia" pitchFamily="34" charset="-122"/>
                <a:cs typeface="Georgia" pitchFamily="34" charset="-120"/>
              </a:rPr>
              <a:t>Sources &amp; further reading</a:t>
            </a:r>
            <a:endParaRPr lang="en-US" sz="2700" dirty="0"/>
          </a:p>
        </p:txBody>
      </p:sp>
      <p:sp>
        <p:nvSpPr>
          <p:cNvPr id="8" name="Shape 6"/>
          <p:cNvSpPr/>
          <p:nvPr/>
        </p:nvSpPr>
        <p:spPr>
          <a:xfrm>
            <a:off x="548640" y="1810512"/>
            <a:ext cx="3977640" cy="1207008"/>
          </a:xfrm>
          <a:prstGeom prst="rect">
            <a:avLst/>
          </a:prstGeom>
          <a:solidFill>
            <a:srgbClr val="FFFFFF"/>
          </a:solidFill>
          <a:ln w="12700">
            <a:solidFill>
              <a:srgbClr val="E4DACA"/>
            </a:solidFill>
            <a:prstDash val="solid"/>
          </a:ln>
          <a:effectLst>
            <a:outerShdw blurRad="88900" dist="38100" dir="5400000" algn="bl" rotWithShape="0">
              <a:srgbClr val="6B5E4A">
                <a:alpha val="18000"/>
              </a:srgbClr>
            </a:outerShdw>
          </a:effectLst>
        </p:spPr>
        <p:txBody>
          <a:bodyPr/>
          <a:lstStyle/>
          <a:p>
            <a:endParaRPr lang="en-AU"/>
          </a:p>
        </p:txBody>
      </p:sp>
      <p:sp>
        <p:nvSpPr>
          <p:cNvPr id="9" name="Shape 7"/>
          <p:cNvSpPr/>
          <p:nvPr/>
        </p:nvSpPr>
        <p:spPr>
          <a:xfrm>
            <a:off x="548640" y="1810512"/>
            <a:ext cx="54864" cy="1207008"/>
          </a:xfrm>
          <a:prstGeom prst="rect">
            <a:avLst/>
          </a:prstGeom>
          <a:solidFill>
            <a:srgbClr val="7C8A6B"/>
          </a:solidFill>
          <a:ln/>
        </p:spPr>
        <p:txBody>
          <a:bodyPr/>
          <a:lstStyle/>
          <a:p>
            <a:endParaRPr lang="en-AU"/>
          </a:p>
        </p:txBody>
      </p:sp>
      <p:sp>
        <p:nvSpPr>
          <p:cNvPr id="10" name="Shape 8"/>
          <p:cNvSpPr/>
          <p:nvPr/>
        </p:nvSpPr>
        <p:spPr>
          <a:xfrm>
            <a:off x="749808" y="1993392"/>
            <a:ext cx="384048" cy="384048"/>
          </a:xfrm>
          <a:prstGeom prst="ellipse">
            <a:avLst/>
          </a:prstGeom>
          <a:solidFill>
            <a:srgbClr val="7C8A6B"/>
          </a:solidFill>
          <a:ln/>
        </p:spPr>
        <p:txBody>
          <a:bodyPr/>
          <a:lstStyle/>
          <a:p>
            <a:endParaRPr lang="en-AU"/>
          </a:p>
        </p:txBody>
      </p:sp>
      <p:sp>
        <p:nvSpPr>
          <p:cNvPr id="11" name="Text 9"/>
          <p:cNvSpPr/>
          <p:nvPr/>
        </p:nvSpPr>
        <p:spPr>
          <a:xfrm>
            <a:off x="749808" y="1993392"/>
            <a:ext cx="384048" cy="384048"/>
          </a:xfrm>
          <a:prstGeom prst="rect">
            <a:avLst/>
          </a:prstGeom>
          <a:noFill/>
          <a:ln/>
        </p:spPr>
        <p:txBody>
          <a:bodyPr wrap="square" lIns="0" tIns="0" rIns="0" bIns="0" rtlCol="0" anchor="ctr"/>
          <a:lstStyle/>
          <a:p>
            <a:pPr marL="0" indent="0" algn="ctr">
              <a:buNone/>
            </a:pPr>
            <a:r>
              <a:rPr lang="en-US" sz="1500" b="1" dirty="0">
                <a:solidFill>
                  <a:srgbClr val="F6EFE4"/>
                </a:solidFill>
                <a:latin typeface="Georgia" pitchFamily="34" charset="0"/>
                <a:ea typeface="Georgia" pitchFamily="34" charset="-122"/>
                <a:cs typeface="Georgia" pitchFamily="34" charset="-120"/>
              </a:rPr>
              <a:t>1</a:t>
            </a:r>
            <a:endParaRPr lang="en-US" sz="1500" dirty="0"/>
          </a:p>
        </p:txBody>
      </p:sp>
      <p:sp>
        <p:nvSpPr>
          <p:cNvPr id="12" name="Text 10"/>
          <p:cNvSpPr/>
          <p:nvPr/>
        </p:nvSpPr>
        <p:spPr>
          <a:xfrm>
            <a:off x="1243584" y="1956816"/>
            <a:ext cx="3099816" cy="457200"/>
          </a:xfrm>
          <a:prstGeom prst="rect">
            <a:avLst/>
          </a:prstGeom>
          <a:noFill/>
          <a:ln/>
        </p:spPr>
        <p:txBody>
          <a:bodyPr wrap="square" lIns="0" tIns="0" rIns="0" bIns="0" rtlCol="0" anchor="ctr"/>
          <a:lstStyle/>
          <a:p>
            <a:pPr marL="0" indent="0" algn="l">
              <a:lnSpc>
                <a:spcPct val="98000"/>
              </a:lnSpc>
              <a:buNone/>
            </a:pPr>
            <a:r>
              <a:rPr lang="en-US" sz="1250" b="1" dirty="0">
                <a:solidFill>
                  <a:srgbClr val="2A2520"/>
                </a:solidFill>
                <a:latin typeface="Georgia" pitchFamily="34" charset="0"/>
                <a:ea typeface="Georgia" pitchFamily="34" charset="-122"/>
                <a:cs typeface="Georgia" pitchFamily="34" charset="-120"/>
              </a:rPr>
              <a:t>PMI — Pulse of the Profession (2018)</a:t>
            </a:r>
            <a:endParaRPr lang="en-US" sz="1250" dirty="0"/>
          </a:p>
        </p:txBody>
      </p:sp>
      <p:sp>
        <p:nvSpPr>
          <p:cNvPr id="13" name="Text 11"/>
          <p:cNvSpPr/>
          <p:nvPr/>
        </p:nvSpPr>
        <p:spPr>
          <a:xfrm>
            <a:off x="749808" y="2414016"/>
            <a:ext cx="3575304" cy="566928"/>
          </a:xfrm>
          <a:prstGeom prst="rect">
            <a:avLst/>
          </a:prstGeom>
          <a:noFill/>
          <a:ln/>
        </p:spPr>
        <p:txBody>
          <a:bodyPr wrap="square" lIns="0" tIns="0" rIns="0" bIns="0" rtlCol="0" anchor="t"/>
          <a:lstStyle/>
          <a:p>
            <a:pPr marL="0" indent="0" algn="l">
              <a:lnSpc>
                <a:spcPct val="102000"/>
              </a:lnSpc>
              <a:buNone/>
            </a:pPr>
            <a:r>
              <a:rPr lang="en-US" sz="950" dirty="0">
                <a:solidFill>
                  <a:srgbClr val="4A423A"/>
                </a:solidFill>
                <a:latin typeface="Calibri" pitchFamily="34" charset="0"/>
                <a:ea typeface="Calibri" pitchFamily="34" charset="-122"/>
                <a:cs typeface="Calibri" pitchFamily="34" charset="-120"/>
              </a:rPr>
              <a:t>Organisations waste roughly 9.9% of every dollar — about US$2 trillion a year — through poor project performance; strategy design and delivery too often go unbridged.</a:t>
            </a:r>
            <a:endParaRPr lang="en-US" sz="950" dirty="0"/>
          </a:p>
        </p:txBody>
      </p:sp>
      <p:sp>
        <p:nvSpPr>
          <p:cNvPr id="14" name="Shape 12"/>
          <p:cNvSpPr/>
          <p:nvPr/>
        </p:nvSpPr>
        <p:spPr>
          <a:xfrm>
            <a:off x="4654296" y="1810512"/>
            <a:ext cx="3977640" cy="1207008"/>
          </a:xfrm>
          <a:prstGeom prst="rect">
            <a:avLst/>
          </a:prstGeom>
          <a:solidFill>
            <a:srgbClr val="FFFFFF"/>
          </a:solidFill>
          <a:ln w="12700">
            <a:solidFill>
              <a:srgbClr val="E4DACA"/>
            </a:solidFill>
            <a:prstDash val="solid"/>
          </a:ln>
          <a:effectLst>
            <a:outerShdw blurRad="88900" dist="38100" dir="5400000" algn="bl" rotWithShape="0">
              <a:srgbClr val="6B5E4A">
                <a:alpha val="18000"/>
              </a:srgbClr>
            </a:outerShdw>
          </a:effectLst>
        </p:spPr>
        <p:txBody>
          <a:bodyPr/>
          <a:lstStyle/>
          <a:p>
            <a:endParaRPr lang="en-AU"/>
          </a:p>
        </p:txBody>
      </p:sp>
      <p:sp>
        <p:nvSpPr>
          <p:cNvPr id="15" name="Shape 13"/>
          <p:cNvSpPr/>
          <p:nvPr/>
        </p:nvSpPr>
        <p:spPr>
          <a:xfrm>
            <a:off x="4654296" y="1810512"/>
            <a:ext cx="54864" cy="1207008"/>
          </a:xfrm>
          <a:prstGeom prst="rect">
            <a:avLst/>
          </a:prstGeom>
          <a:solidFill>
            <a:srgbClr val="B07B33"/>
          </a:solidFill>
          <a:ln/>
        </p:spPr>
        <p:txBody>
          <a:bodyPr/>
          <a:lstStyle/>
          <a:p>
            <a:endParaRPr lang="en-AU"/>
          </a:p>
        </p:txBody>
      </p:sp>
      <p:sp>
        <p:nvSpPr>
          <p:cNvPr id="16" name="Shape 14"/>
          <p:cNvSpPr/>
          <p:nvPr/>
        </p:nvSpPr>
        <p:spPr>
          <a:xfrm>
            <a:off x="4855464" y="1993392"/>
            <a:ext cx="384048" cy="384048"/>
          </a:xfrm>
          <a:prstGeom prst="ellipse">
            <a:avLst/>
          </a:prstGeom>
          <a:solidFill>
            <a:srgbClr val="B07B33"/>
          </a:solidFill>
          <a:ln/>
        </p:spPr>
        <p:txBody>
          <a:bodyPr/>
          <a:lstStyle/>
          <a:p>
            <a:endParaRPr lang="en-AU"/>
          </a:p>
        </p:txBody>
      </p:sp>
      <p:sp>
        <p:nvSpPr>
          <p:cNvPr id="17" name="Text 15"/>
          <p:cNvSpPr/>
          <p:nvPr/>
        </p:nvSpPr>
        <p:spPr>
          <a:xfrm>
            <a:off x="4855464" y="1993392"/>
            <a:ext cx="384048" cy="384048"/>
          </a:xfrm>
          <a:prstGeom prst="rect">
            <a:avLst/>
          </a:prstGeom>
          <a:noFill/>
          <a:ln/>
        </p:spPr>
        <p:txBody>
          <a:bodyPr wrap="square" lIns="0" tIns="0" rIns="0" bIns="0" rtlCol="0" anchor="ctr"/>
          <a:lstStyle/>
          <a:p>
            <a:pPr marL="0" indent="0" algn="ctr">
              <a:buNone/>
            </a:pPr>
            <a:r>
              <a:rPr lang="en-US" sz="1500" b="1" dirty="0">
                <a:solidFill>
                  <a:srgbClr val="F6EFE4"/>
                </a:solidFill>
                <a:latin typeface="Georgia" pitchFamily="34" charset="0"/>
                <a:ea typeface="Georgia" pitchFamily="34" charset="-122"/>
                <a:cs typeface="Georgia" pitchFamily="34" charset="-120"/>
              </a:rPr>
              <a:t>2</a:t>
            </a:r>
            <a:endParaRPr lang="en-US" sz="1500" dirty="0"/>
          </a:p>
        </p:txBody>
      </p:sp>
      <p:sp>
        <p:nvSpPr>
          <p:cNvPr id="18" name="Text 16"/>
          <p:cNvSpPr/>
          <p:nvPr/>
        </p:nvSpPr>
        <p:spPr>
          <a:xfrm>
            <a:off x="5349240" y="1956816"/>
            <a:ext cx="3099816" cy="457200"/>
          </a:xfrm>
          <a:prstGeom prst="rect">
            <a:avLst/>
          </a:prstGeom>
          <a:noFill/>
          <a:ln/>
        </p:spPr>
        <p:txBody>
          <a:bodyPr wrap="square" lIns="0" tIns="0" rIns="0" bIns="0" rtlCol="0" anchor="ctr"/>
          <a:lstStyle/>
          <a:p>
            <a:pPr marL="0" indent="0" algn="l">
              <a:lnSpc>
                <a:spcPct val="98000"/>
              </a:lnSpc>
              <a:buNone/>
            </a:pPr>
            <a:r>
              <a:rPr lang="en-US" sz="1250" b="1" dirty="0">
                <a:solidFill>
                  <a:srgbClr val="2A2520"/>
                </a:solidFill>
                <a:latin typeface="Georgia" pitchFamily="34" charset="0"/>
                <a:ea typeface="Georgia" pitchFamily="34" charset="-122"/>
                <a:cs typeface="Georgia" pitchFamily="34" charset="-120"/>
              </a:rPr>
              <a:t>Flyvbjerg — The Iron Law of Megaprojects (2017)</a:t>
            </a:r>
            <a:endParaRPr lang="en-US" sz="1250" dirty="0"/>
          </a:p>
        </p:txBody>
      </p:sp>
      <p:sp>
        <p:nvSpPr>
          <p:cNvPr id="19" name="Text 17"/>
          <p:cNvSpPr/>
          <p:nvPr/>
        </p:nvSpPr>
        <p:spPr>
          <a:xfrm>
            <a:off x="4855464" y="2414016"/>
            <a:ext cx="3575304" cy="566928"/>
          </a:xfrm>
          <a:prstGeom prst="rect">
            <a:avLst/>
          </a:prstGeom>
          <a:noFill/>
          <a:ln/>
        </p:spPr>
        <p:txBody>
          <a:bodyPr wrap="square" lIns="0" tIns="0" rIns="0" bIns="0" rtlCol="0" anchor="t"/>
          <a:lstStyle/>
          <a:p>
            <a:pPr marL="0" indent="0" algn="l">
              <a:lnSpc>
                <a:spcPct val="102000"/>
              </a:lnSpc>
              <a:buNone/>
            </a:pPr>
            <a:r>
              <a:rPr lang="en-US" sz="950" dirty="0">
                <a:solidFill>
                  <a:srgbClr val="4A423A"/>
                </a:solidFill>
                <a:latin typeface="Calibri" pitchFamily="34" charset="0"/>
                <a:ea typeface="Calibri" pitchFamily="34" charset="-122"/>
                <a:cs typeface="Calibri" pitchFamily="34" charset="-120"/>
              </a:rPr>
              <a:t>Nine in ten large projects run over budget; cost overruns and benefit shortfalls persist across sectors and decades.</a:t>
            </a:r>
            <a:endParaRPr lang="en-US" sz="950" dirty="0"/>
          </a:p>
        </p:txBody>
      </p:sp>
      <p:sp>
        <p:nvSpPr>
          <p:cNvPr id="20" name="Shape 18"/>
          <p:cNvSpPr/>
          <p:nvPr/>
        </p:nvSpPr>
        <p:spPr>
          <a:xfrm>
            <a:off x="548640" y="3127248"/>
            <a:ext cx="3977640" cy="1207008"/>
          </a:xfrm>
          <a:prstGeom prst="rect">
            <a:avLst/>
          </a:prstGeom>
          <a:solidFill>
            <a:srgbClr val="FFFFFF"/>
          </a:solidFill>
          <a:ln w="12700">
            <a:solidFill>
              <a:srgbClr val="E4DACA"/>
            </a:solidFill>
            <a:prstDash val="solid"/>
          </a:ln>
          <a:effectLst>
            <a:outerShdw blurRad="88900" dist="38100" dir="5400000" algn="bl" rotWithShape="0">
              <a:srgbClr val="6B5E4A">
                <a:alpha val="18000"/>
              </a:srgbClr>
            </a:outerShdw>
          </a:effectLst>
        </p:spPr>
        <p:txBody>
          <a:bodyPr/>
          <a:lstStyle/>
          <a:p>
            <a:endParaRPr lang="en-AU"/>
          </a:p>
        </p:txBody>
      </p:sp>
      <p:sp>
        <p:nvSpPr>
          <p:cNvPr id="21" name="Shape 19"/>
          <p:cNvSpPr/>
          <p:nvPr/>
        </p:nvSpPr>
        <p:spPr>
          <a:xfrm>
            <a:off x="548640" y="3127248"/>
            <a:ext cx="54864" cy="1207008"/>
          </a:xfrm>
          <a:prstGeom prst="rect">
            <a:avLst/>
          </a:prstGeom>
          <a:solidFill>
            <a:srgbClr val="B0533F"/>
          </a:solidFill>
          <a:ln/>
        </p:spPr>
        <p:txBody>
          <a:bodyPr/>
          <a:lstStyle/>
          <a:p>
            <a:endParaRPr lang="en-AU"/>
          </a:p>
        </p:txBody>
      </p:sp>
      <p:sp>
        <p:nvSpPr>
          <p:cNvPr id="22" name="Shape 20"/>
          <p:cNvSpPr/>
          <p:nvPr/>
        </p:nvSpPr>
        <p:spPr>
          <a:xfrm>
            <a:off x="749808" y="3310128"/>
            <a:ext cx="384048" cy="384048"/>
          </a:xfrm>
          <a:prstGeom prst="ellipse">
            <a:avLst/>
          </a:prstGeom>
          <a:solidFill>
            <a:srgbClr val="B0533F"/>
          </a:solidFill>
          <a:ln/>
        </p:spPr>
        <p:txBody>
          <a:bodyPr/>
          <a:lstStyle/>
          <a:p>
            <a:endParaRPr lang="en-AU"/>
          </a:p>
        </p:txBody>
      </p:sp>
      <p:sp>
        <p:nvSpPr>
          <p:cNvPr id="23" name="Text 21"/>
          <p:cNvSpPr/>
          <p:nvPr/>
        </p:nvSpPr>
        <p:spPr>
          <a:xfrm>
            <a:off x="749808" y="3310128"/>
            <a:ext cx="384048" cy="384048"/>
          </a:xfrm>
          <a:prstGeom prst="rect">
            <a:avLst/>
          </a:prstGeom>
          <a:noFill/>
          <a:ln/>
        </p:spPr>
        <p:txBody>
          <a:bodyPr wrap="square" lIns="0" tIns="0" rIns="0" bIns="0" rtlCol="0" anchor="ctr"/>
          <a:lstStyle/>
          <a:p>
            <a:pPr marL="0" indent="0" algn="ctr">
              <a:buNone/>
            </a:pPr>
            <a:r>
              <a:rPr lang="en-US" sz="1500" b="1" dirty="0">
                <a:solidFill>
                  <a:srgbClr val="F6EFE4"/>
                </a:solidFill>
                <a:latin typeface="Georgia" pitchFamily="34" charset="0"/>
                <a:ea typeface="Georgia" pitchFamily="34" charset="-122"/>
                <a:cs typeface="Georgia" pitchFamily="34" charset="-120"/>
              </a:rPr>
              <a:t>3</a:t>
            </a:r>
            <a:endParaRPr lang="en-US" sz="1500" dirty="0"/>
          </a:p>
        </p:txBody>
      </p:sp>
      <p:sp>
        <p:nvSpPr>
          <p:cNvPr id="24" name="Text 22"/>
          <p:cNvSpPr/>
          <p:nvPr/>
        </p:nvSpPr>
        <p:spPr>
          <a:xfrm>
            <a:off x="1243584" y="3273552"/>
            <a:ext cx="3099816" cy="457200"/>
          </a:xfrm>
          <a:prstGeom prst="rect">
            <a:avLst/>
          </a:prstGeom>
          <a:noFill/>
          <a:ln/>
        </p:spPr>
        <p:txBody>
          <a:bodyPr wrap="square" lIns="0" tIns="0" rIns="0" bIns="0" rtlCol="0" anchor="ctr"/>
          <a:lstStyle/>
          <a:p>
            <a:pPr marL="0" indent="0" algn="l">
              <a:lnSpc>
                <a:spcPct val="98000"/>
              </a:lnSpc>
              <a:buNone/>
            </a:pPr>
            <a:r>
              <a:rPr lang="en-US" sz="1250" b="1" dirty="0">
                <a:solidFill>
                  <a:srgbClr val="2A2520"/>
                </a:solidFill>
                <a:latin typeface="Georgia" pitchFamily="34" charset="0"/>
                <a:ea typeface="Georgia" pitchFamily="34" charset="-122"/>
                <a:cs typeface="Georgia" pitchFamily="34" charset="-120"/>
              </a:rPr>
              <a:t>PMI — Step Up: Path to Project Success (2025)</a:t>
            </a:r>
            <a:endParaRPr lang="en-US" sz="1250" dirty="0"/>
          </a:p>
        </p:txBody>
      </p:sp>
      <p:sp>
        <p:nvSpPr>
          <p:cNvPr id="25" name="Text 23"/>
          <p:cNvSpPr/>
          <p:nvPr/>
        </p:nvSpPr>
        <p:spPr>
          <a:xfrm>
            <a:off x="749808" y="3730752"/>
            <a:ext cx="3575304" cy="566928"/>
          </a:xfrm>
          <a:prstGeom prst="rect">
            <a:avLst/>
          </a:prstGeom>
          <a:noFill/>
          <a:ln/>
        </p:spPr>
        <p:txBody>
          <a:bodyPr wrap="square" lIns="0" tIns="0" rIns="0" bIns="0" rtlCol="0" anchor="t"/>
          <a:lstStyle/>
          <a:p>
            <a:pPr marL="0" indent="0" algn="l">
              <a:lnSpc>
                <a:spcPct val="102000"/>
              </a:lnSpc>
              <a:buNone/>
            </a:pPr>
            <a:r>
              <a:rPr lang="en-US" sz="950" dirty="0">
                <a:solidFill>
                  <a:srgbClr val="4A423A"/>
                </a:solidFill>
                <a:latin typeface="Calibri" pitchFamily="34" charset="0"/>
                <a:ea typeface="Calibri" pitchFamily="34" charset="-122"/>
                <a:cs typeface="Calibri" pitchFamily="34" charset="-120"/>
              </a:rPr>
              <a:t>Only about half of projects fully succeed; the top barrier to reinvention, cited by 35% of executives, is a disconnect between planning and execution.</a:t>
            </a:r>
            <a:endParaRPr lang="en-US" sz="950" dirty="0"/>
          </a:p>
        </p:txBody>
      </p:sp>
      <p:sp>
        <p:nvSpPr>
          <p:cNvPr id="26" name="Shape 24"/>
          <p:cNvSpPr/>
          <p:nvPr/>
        </p:nvSpPr>
        <p:spPr>
          <a:xfrm>
            <a:off x="4654296" y="3127248"/>
            <a:ext cx="3977640" cy="1207008"/>
          </a:xfrm>
          <a:prstGeom prst="rect">
            <a:avLst/>
          </a:prstGeom>
          <a:solidFill>
            <a:srgbClr val="FFFFFF"/>
          </a:solidFill>
          <a:ln w="12700">
            <a:solidFill>
              <a:srgbClr val="E4DACA"/>
            </a:solidFill>
            <a:prstDash val="solid"/>
          </a:ln>
          <a:effectLst>
            <a:outerShdw blurRad="88900" dist="38100" dir="5400000" algn="bl" rotWithShape="0">
              <a:srgbClr val="6B5E4A">
                <a:alpha val="18000"/>
              </a:srgbClr>
            </a:outerShdw>
          </a:effectLst>
        </p:spPr>
        <p:txBody>
          <a:bodyPr/>
          <a:lstStyle/>
          <a:p>
            <a:endParaRPr lang="en-AU"/>
          </a:p>
        </p:txBody>
      </p:sp>
      <p:sp>
        <p:nvSpPr>
          <p:cNvPr id="27" name="Shape 25"/>
          <p:cNvSpPr/>
          <p:nvPr/>
        </p:nvSpPr>
        <p:spPr>
          <a:xfrm>
            <a:off x="4654296" y="3127248"/>
            <a:ext cx="54864" cy="1207008"/>
          </a:xfrm>
          <a:prstGeom prst="rect">
            <a:avLst/>
          </a:prstGeom>
          <a:solidFill>
            <a:srgbClr val="17253F"/>
          </a:solidFill>
          <a:ln/>
        </p:spPr>
        <p:txBody>
          <a:bodyPr/>
          <a:lstStyle/>
          <a:p>
            <a:endParaRPr lang="en-AU"/>
          </a:p>
        </p:txBody>
      </p:sp>
      <p:sp>
        <p:nvSpPr>
          <p:cNvPr id="28" name="Shape 26"/>
          <p:cNvSpPr/>
          <p:nvPr/>
        </p:nvSpPr>
        <p:spPr>
          <a:xfrm>
            <a:off x="4855464" y="3310128"/>
            <a:ext cx="384048" cy="384048"/>
          </a:xfrm>
          <a:prstGeom prst="ellipse">
            <a:avLst/>
          </a:prstGeom>
          <a:solidFill>
            <a:srgbClr val="17253F"/>
          </a:solidFill>
          <a:ln/>
        </p:spPr>
        <p:txBody>
          <a:bodyPr/>
          <a:lstStyle/>
          <a:p>
            <a:endParaRPr lang="en-AU"/>
          </a:p>
        </p:txBody>
      </p:sp>
      <p:sp>
        <p:nvSpPr>
          <p:cNvPr id="29" name="Text 27"/>
          <p:cNvSpPr/>
          <p:nvPr/>
        </p:nvSpPr>
        <p:spPr>
          <a:xfrm>
            <a:off x="4855464" y="3310128"/>
            <a:ext cx="384048" cy="384048"/>
          </a:xfrm>
          <a:prstGeom prst="rect">
            <a:avLst/>
          </a:prstGeom>
          <a:noFill/>
          <a:ln/>
        </p:spPr>
        <p:txBody>
          <a:bodyPr wrap="square" lIns="0" tIns="0" rIns="0" bIns="0" rtlCol="0" anchor="ctr"/>
          <a:lstStyle/>
          <a:p>
            <a:pPr marL="0" indent="0" algn="ctr">
              <a:buNone/>
            </a:pPr>
            <a:r>
              <a:rPr lang="en-US" sz="1500" b="1" dirty="0">
                <a:solidFill>
                  <a:srgbClr val="F6EFE4"/>
                </a:solidFill>
                <a:latin typeface="Georgia" pitchFamily="34" charset="0"/>
                <a:ea typeface="Georgia" pitchFamily="34" charset="-122"/>
                <a:cs typeface="Georgia" pitchFamily="34" charset="-120"/>
              </a:rPr>
              <a:t>4</a:t>
            </a:r>
            <a:endParaRPr lang="en-US" sz="1500" dirty="0"/>
          </a:p>
        </p:txBody>
      </p:sp>
      <p:sp>
        <p:nvSpPr>
          <p:cNvPr id="30" name="Text 28"/>
          <p:cNvSpPr/>
          <p:nvPr/>
        </p:nvSpPr>
        <p:spPr>
          <a:xfrm>
            <a:off x="5349240" y="3273552"/>
            <a:ext cx="3099816" cy="457200"/>
          </a:xfrm>
          <a:prstGeom prst="rect">
            <a:avLst/>
          </a:prstGeom>
          <a:noFill/>
          <a:ln/>
        </p:spPr>
        <p:txBody>
          <a:bodyPr wrap="square" lIns="0" tIns="0" rIns="0" bIns="0" rtlCol="0" anchor="ctr"/>
          <a:lstStyle/>
          <a:p>
            <a:pPr marL="0" indent="0" algn="l">
              <a:lnSpc>
                <a:spcPct val="98000"/>
              </a:lnSpc>
              <a:buNone/>
            </a:pPr>
            <a:r>
              <a:rPr lang="en-US" sz="1250" b="1" dirty="0">
                <a:solidFill>
                  <a:srgbClr val="2A2520"/>
                </a:solidFill>
                <a:latin typeface="Georgia" pitchFamily="34" charset="0"/>
                <a:ea typeface="Georgia" pitchFamily="34" charset="-122"/>
                <a:cs typeface="Georgia" pitchFamily="34" charset="-120"/>
              </a:rPr>
              <a:t>PMI — Governance of Portfolios, Programs &amp; Projects (2015)</a:t>
            </a:r>
            <a:endParaRPr lang="en-US" sz="1250" dirty="0"/>
          </a:p>
        </p:txBody>
      </p:sp>
      <p:sp>
        <p:nvSpPr>
          <p:cNvPr id="31" name="Text 29"/>
          <p:cNvSpPr/>
          <p:nvPr/>
        </p:nvSpPr>
        <p:spPr>
          <a:xfrm>
            <a:off x="4855464" y="3730752"/>
            <a:ext cx="3575304" cy="566928"/>
          </a:xfrm>
          <a:prstGeom prst="rect">
            <a:avLst/>
          </a:prstGeom>
          <a:noFill/>
          <a:ln/>
        </p:spPr>
        <p:txBody>
          <a:bodyPr wrap="square" lIns="0" tIns="0" rIns="0" bIns="0" rtlCol="0" anchor="t"/>
          <a:lstStyle/>
          <a:p>
            <a:pPr marL="0" indent="0" algn="l">
              <a:lnSpc>
                <a:spcPct val="102000"/>
              </a:lnSpc>
              <a:buNone/>
            </a:pPr>
            <a:r>
              <a:rPr lang="en-US" sz="950" dirty="0">
                <a:solidFill>
                  <a:srgbClr val="4A423A"/>
                </a:solidFill>
                <a:latin typeface="Calibri" pitchFamily="34" charset="0"/>
                <a:ea typeface="Calibri" pitchFamily="34" charset="-122"/>
                <a:cs typeface="Calibri" pitchFamily="34" charset="-120"/>
              </a:rPr>
              <a:t>Effective governance directly shapes the success of strategic initiatives, portfolios, programs and projects.</a:t>
            </a:r>
            <a:endParaRPr lang="en-US" sz="950" dirty="0"/>
          </a:p>
        </p:txBody>
      </p:sp>
      <p:sp>
        <p:nvSpPr>
          <p:cNvPr id="32" name="Text 30"/>
          <p:cNvSpPr/>
          <p:nvPr/>
        </p:nvSpPr>
        <p:spPr>
          <a:xfrm>
            <a:off x="548640" y="4443984"/>
            <a:ext cx="8092440" cy="256032"/>
          </a:xfrm>
          <a:prstGeom prst="rect">
            <a:avLst/>
          </a:prstGeom>
          <a:noFill/>
          <a:ln/>
        </p:spPr>
        <p:txBody>
          <a:bodyPr wrap="square" lIns="0" tIns="0" rIns="0" bIns="0" rtlCol="0" anchor="ctr"/>
          <a:lstStyle/>
          <a:p>
            <a:pPr marL="0" indent="0" algn="l">
              <a:buNone/>
            </a:pPr>
            <a:r>
              <a:rPr lang="en-US" sz="1000" b="1" dirty="0">
                <a:solidFill>
                  <a:srgbClr val="2A2520"/>
                </a:solidFill>
                <a:latin typeface="Calibri" pitchFamily="34" charset="0"/>
                <a:ea typeface="Calibri" pitchFamily="34" charset="-122"/>
                <a:cs typeface="Calibri" pitchFamily="34" charset="-120"/>
              </a:rPr>
              <a:t>Further reading:  </a:t>
            </a:r>
            <a:r>
              <a:rPr lang="en-US" sz="1000" dirty="0">
                <a:solidFill>
                  <a:srgbClr val="4A423A"/>
                </a:solidFill>
                <a:latin typeface="Calibri" pitchFamily="34" charset="0"/>
                <a:ea typeface="Calibri" pitchFamily="34" charset="-122"/>
                <a:cs typeface="Calibri" pitchFamily="34" charset="-120"/>
              </a:rPr>
              <a:t>Standish Group, CHAOS Report (2020); Flyvbjerg &amp; Gardner, How Big Things Get Done (2023).</a:t>
            </a:r>
            <a:endParaRPr lang="en-US" sz="1000" dirty="0"/>
          </a:p>
        </p:txBody>
      </p:sp>
      <p:sp>
        <p:nvSpPr>
          <p:cNvPr id="33" name="Text 31"/>
          <p:cNvSpPr/>
          <p:nvPr/>
        </p:nvSpPr>
        <p:spPr>
          <a:xfrm>
            <a:off x="548640" y="4736592"/>
            <a:ext cx="8092440" cy="237744"/>
          </a:xfrm>
          <a:prstGeom prst="rect">
            <a:avLst/>
          </a:prstGeom>
          <a:noFill/>
          <a:ln/>
        </p:spPr>
        <p:txBody>
          <a:bodyPr wrap="square" lIns="0" tIns="0" rIns="0" bIns="0" rtlCol="0" anchor="ctr"/>
          <a:lstStyle/>
          <a:p>
            <a:pPr marL="0" indent="0" algn="l">
              <a:buNone/>
            </a:pPr>
            <a:r>
              <a:rPr lang="en-US" sz="900" i="1" dirty="0">
                <a:solidFill>
                  <a:srgbClr val="9A8E7C"/>
                </a:solidFill>
                <a:latin typeface="Calibri" pitchFamily="34" charset="0"/>
                <a:ea typeface="Calibri" pitchFamily="34" charset="-122"/>
                <a:cs typeface="Calibri" pitchFamily="34" charset="-120"/>
              </a:rPr>
              <a:t>Figures are published industry benchmarks, cited to illustrate common patterns — not ESSGEE Projects client data.</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1226</Words>
  <Application>Microsoft Office PowerPoint</Application>
  <PresentationFormat>On-screen Show (16:9)</PresentationFormat>
  <Paragraphs>130</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Georgia</vt:lpstr>
      <vt:lpstr>Office Theme</vt:lpstr>
      <vt:lpstr>Bridging Strategy, Governance and Delivery</vt:lpstr>
      <vt:lpstr>Three functions, one outcome</vt:lpstr>
      <vt:lpstr>The cost of disconnection</vt:lpstr>
      <vt:lpstr>Three disciplines, one purpose</vt:lpstr>
      <vt:lpstr>From silos to a single operating model</vt:lpstr>
      <vt:lpstr>Why alignment matters</vt:lpstr>
      <vt:lpstr>The bridge is the work</vt:lpstr>
      <vt:lpstr>Sources &amp; further reading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Satya Gady</dc:creator>
  <cp:lastModifiedBy>Satya Gady</cp:lastModifiedBy>
  <cp:revision>1</cp:revision>
  <dcterms:created xsi:type="dcterms:W3CDTF">2026-07-05T03:54:38Z</dcterms:created>
  <dcterms:modified xsi:type="dcterms:W3CDTF">2026-07-05T04:06:48Z</dcterms:modified>
</cp:coreProperties>
</file>